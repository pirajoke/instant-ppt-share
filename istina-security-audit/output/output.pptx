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55eb313014b9b" /><Relationship Type="http://schemas.openxmlformats.org/officeDocument/2006/relationships/extended-properties" Target="/docProps/app.xml" Id="Rb73ba17929b645a4" /><Relationship Type="http://schemas.openxmlformats.org/officeDocument/2006/relationships/officeDocument" Target="/ppt/presentation.xml" Id="R2fe91e0ba087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3e31b66ee4ac4"/>
  </p:sldMasterIdLst>
  <p:notesMasterIdLst>
    <p:notesMasterId xmlns:r="http://schemas.openxmlformats.org/officeDocument/2006/relationships" r:id="Ra58cbb62fa4d4d11"/>
  </p:notesMasterIdLst>
  <p:sldIdLst>
    <p:sldId xmlns:r="http://schemas.openxmlformats.org/officeDocument/2006/relationships" id="256" r:id="Raad35bed1c1e4a33"/>
    <p:sldId xmlns:r="http://schemas.openxmlformats.org/officeDocument/2006/relationships" id="257" r:id="Reca960765d854727"/>
    <p:sldId xmlns:r="http://schemas.openxmlformats.org/officeDocument/2006/relationships" id="258" r:id="Raecc24a46f874c2e"/>
    <p:sldId xmlns:r="http://schemas.openxmlformats.org/officeDocument/2006/relationships" id="259" r:id="Rd5402386b03d476c"/>
    <p:sldId xmlns:r="http://schemas.openxmlformats.org/officeDocument/2006/relationships" id="260" r:id="Re127193059294f0e"/>
    <p:sldId xmlns:r="http://schemas.openxmlformats.org/officeDocument/2006/relationships" id="261" r:id="Rab9481b72b6f480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3e31b66ee4ac4" /><Relationship Type="http://schemas.openxmlformats.org/officeDocument/2006/relationships/theme" Target="/ppt/theme/theme1.xml" Id="R3ecdf2d58383484a" /><Relationship Type="http://schemas.openxmlformats.org/officeDocument/2006/relationships/notesMaster" Target="/ppt/notesMasters/notesMaster1.xml" Id="Ra58cbb62fa4d4d11" /><Relationship Type="http://schemas.openxmlformats.org/officeDocument/2006/relationships/presProps" Target="/ppt/presProps.xml" Id="R656f720544044923" /><Relationship Type="http://schemas.openxmlformats.org/officeDocument/2006/relationships/viewProps" Target="/ppt/viewProps.xml" Id="R59e3e82dc26342be" /><Relationship Type="http://schemas.openxmlformats.org/officeDocument/2006/relationships/tableStyles" Target="/ppt/tableStyles.xml" Id="Redf38b1035ef4080" /><Relationship Type="http://schemas.openxmlformats.org/officeDocument/2006/relationships/slide" Target="/ppt/slides/slide1.xml" Id="Raad35bed1c1e4a33" /><Relationship Type="http://schemas.openxmlformats.org/officeDocument/2006/relationships/slide" Target="/ppt/slides/slide2.xml" Id="Reca960765d854727" /><Relationship Type="http://schemas.openxmlformats.org/officeDocument/2006/relationships/slide" Target="/ppt/slides/slide3.xml" Id="Raecc24a46f874c2e" /><Relationship Type="http://schemas.openxmlformats.org/officeDocument/2006/relationships/slide" Target="/ppt/slides/slide4.xml" Id="Rd5402386b03d476c" /><Relationship Type="http://schemas.openxmlformats.org/officeDocument/2006/relationships/slide" Target="/ppt/slides/slide5.xml" Id="Re127193059294f0e" /><Relationship Type="http://schemas.openxmlformats.org/officeDocument/2006/relationships/slide" Target="/ppt/slides/slide6.xml" Id="Rab9481b72b6f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a326b10ba6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f680ad2574776" /><Relationship Type="http://schemas.openxmlformats.org/officeDocument/2006/relationships/notesMaster" Target="/ppt/notesMasters/notesMaster1.xml" Id="Rca9085277ae543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76e59b1694043" /><Relationship Type="http://schemas.openxmlformats.org/officeDocument/2006/relationships/notesMaster" Target="/ppt/notesMasters/notesMaster1.xml" Id="R2096f5e3f572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e2ab88cd04c8d" /><Relationship Type="http://schemas.openxmlformats.org/officeDocument/2006/relationships/notesMaster" Target="/ppt/notesMasters/notesMaster1.xml" Id="R8d33567661b140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891d0086f14bc0" /><Relationship Type="http://schemas.openxmlformats.org/officeDocument/2006/relationships/notesMaster" Target="/ppt/notesMasters/notesMaster1.xml" Id="Rd9afaca01d6a4f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e80ec8431a4285" /><Relationship Type="http://schemas.openxmlformats.org/officeDocument/2006/relationships/notesMaster" Target="/ppt/notesMasters/notesMaster1.xml" Id="Rc1450fffeafc4c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4d37a8854477e" /><Relationship Type="http://schemas.openxmlformats.org/officeDocument/2006/relationships/notesMaster" Target="/ppt/notesMasters/notesMaster1.xml" Id="Rec5d1e798539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afaff181647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280c8f5065249b5" /><Relationship Type="http://schemas.openxmlformats.org/officeDocument/2006/relationships/slideLayout" Target="/ppt/slideLayouts/slideLayout2.xml" Id="R32b25e6099ac41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25e6099ac41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c3b86c32a487d" /><Relationship Type="http://schemas.openxmlformats.org/officeDocument/2006/relationships/notesSlide" Target="/ppt/notesSlides/notesSlide1.xml" Id="R1ec18cd711a74f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64f14ef734f3a" /><Relationship Type="http://schemas.openxmlformats.org/officeDocument/2006/relationships/notesSlide" Target="/ppt/notesSlides/notesSlide2.xml" Id="R6768c67caa31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f8e53109d49df" /><Relationship Type="http://schemas.openxmlformats.org/officeDocument/2006/relationships/notesSlide" Target="/ppt/notesSlides/notesSlide3.xml" Id="Rcdb45556267a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6cfefd4984558" /><Relationship Type="http://schemas.openxmlformats.org/officeDocument/2006/relationships/notesSlide" Target="/ppt/notesSlides/notesSlide4.xml" Id="R9b7443131ccc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2a5bd5a0c48dd" /><Relationship Type="http://schemas.openxmlformats.org/officeDocument/2006/relationships/notesSlide" Target="/ppt/notesSlides/notesSlide5.xml" Id="R2c53bffa8530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21a3c0a4e642fc" /><Relationship Type="http://schemas.openxmlformats.org/officeDocument/2006/relationships/notesSlide" Target="/ppt/notesSlides/notesSlide6.xml" Id="R598bebb0b1f743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711BB5-105E-4E64-8209-7B2E7C5B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8"/>
          </a:solidFill>
        </p:spPr>
      </p:sp>
      <p:sp>
        <p:nvSpPr>
          <p:cNvPr id="2" name="background-blank">
            <a:extLst xmlns:a="http://schemas.openxmlformats.org/drawingml/2006/main">
              <a:ext uri="{FF2B5EF4-FFF2-40B4-BE49-F238E27FC236}">
                <a16:creationId xmlns:a16="http://schemas.microsoft.com/office/drawing/2014/main" id="{0C3C5556-1503-405D-9466-35BB138C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grid-overlay">
            <a:extLst xmlns:a="http://schemas.openxmlformats.org/drawingml/2006/main">
              <a:ext uri="{FF2B5EF4-FFF2-40B4-BE49-F238E27FC236}">
                <a16:creationId xmlns:a16="http://schemas.microsoft.com/office/drawing/2014/main" id="{509BDBDF-11A7-439B-9830-AD5DCE7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grid-placeholder">
            <a:extLst xmlns:a="http://schemas.openxmlformats.org/drawingml/2006/main">
              <a:ext uri="{FF2B5EF4-FFF2-40B4-BE49-F238E27FC236}">
                <a16:creationId xmlns:a16="http://schemas.microsoft.com/office/drawing/2014/main" id="{776F47AA-F828-4710-824E-E0D5D378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8787C6AE-0BC3-426F-9F12-968FC59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0D7E8"/>
                </a:solidFill>
              </a:defRPr>
            </a:pPr>
            <a:r>
              <a:rPr sz="1350" b="1">
                <a:solidFill>
                  <a:srgbClr val="70D7E8"/>
                </a:solidFill>
              </a:rPr>
              <a:t>ISTINA.CO</a:t>
            </a:r>
          </a:p>
        </p:txBody>
      </p:sp>
      <p:sp>
        <p:nvSpPr>
          <p:cNvPr id="6" name="brand-sub">
            <a:extLst xmlns:a="http://schemas.openxmlformats.org/drawingml/2006/main">
              <a:ext uri="{FF2B5EF4-FFF2-40B4-BE49-F238E27FC236}">
                <a16:creationId xmlns:a16="http://schemas.microsoft.com/office/drawing/2014/main" id="{CF2926BF-72CD-40E0-B7C6-24C6C33B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D6962"/>
                </a:solidFill>
              </a:defRPr>
            </a:pPr>
            <a:r>
              <a:rPr sz="1050" b="0">
                <a:solidFill>
                  <a:srgbClr val="6D6962"/>
                </a:solidFill>
              </a:rPr>
              <a:t>SECURITY AUDIT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A32EED7-22E4-4F85-AF65-BA9B6D1B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73342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8400" b="1">
                <a:solidFill>
                  <a:srgbClr val="F5F2EA"/>
                </a:solidFill>
              </a:defRPr>
            </a:pPr>
            <a:r>
              <a:rPr sz="8400" b="1">
                <a:solidFill>
                  <a:srgbClr val="F5F2EA"/>
                </a:solidFill>
              </a:rPr>
              <a:t>Audit findings.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8400" b="1">
                <a:solidFill>
                  <a:srgbClr val="F5F2EA"/>
                </a:solidFill>
              </a:defRPr>
            </a:pPr>
            <a:r>
              <a:rPr sz="8400" b="1">
                <a:solidFill>
                  <a:srgbClr val="F5F2EA"/>
                </a:solidFill>
              </a:rPr>
              <a:t>Fix plan.</a:t>
            </a:r>
          </a:p>
        </p:txBody>
      </p:sp>
      <p:sp>
        <p:nvSpPr>
          <p:cNvPr id="8" name="cover-sub">
            <a:extLst xmlns:a="http://schemas.openxmlformats.org/drawingml/2006/main">
              <a:ext uri="{FF2B5EF4-FFF2-40B4-BE49-F238E27FC236}">
                <a16:creationId xmlns:a16="http://schemas.microsoft.com/office/drawing/2014/main" id="{B1930EED-86D7-4372-ABE5-C6E3EB8F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81343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0">
                <a:solidFill>
                  <a:srgbClr val="A49F97"/>
                </a:solidFill>
              </a:defRPr>
            </a:pPr>
            <a:r>
              <a:rPr sz="2250" b="0">
                <a:solidFill>
                  <a:srgbClr val="A49F97"/>
                </a:solidFill>
              </a:rPr>
              <a:t>Confirmed: public /health leaks the backend map. Next: staging checks for RBAC, geo privacy and abuse limits.</a:t>
            </a:r>
          </a:p>
        </p:txBody>
      </p:sp>
      <p:sp>
        <p:nvSpPr>
          <p:cNvPr id="9" name="pill-no-fluff">
            <a:extLst xmlns:a="http://schemas.openxmlformats.org/drawingml/2006/main">
              <a:ext uri="{FF2B5EF4-FFF2-40B4-BE49-F238E27FC236}">
                <a16:creationId xmlns:a16="http://schemas.microsoft.com/office/drawing/2014/main" id="{730FB806-F14C-4102-B933-5BB80D7D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53250"/>
            <a:ext cx="1238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3922"/>
            </a:srgbClr>
          </a:solidFill>
        </p:spPr>
      </p:sp>
      <p:sp>
        <p:nvSpPr>
          <p:cNvPr id="10" name="pill-text-no fluff">
            <a:extLst xmlns:a="http://schemas.openxmlformats.org/drawingml/2006/main">
              <a:ext uri="{FF2B5EF4-FFF2-40B4-BE49-F238E27FC236}">
                <a16:creationId xmlns:a16="http://schemas.microsoft.com/office/drawing/2014/main" id="{F95F33C2-37AE-4189-9BF4-53DF942F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866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2B"/>
                </a:solidFill>
              </a:defRPr>
            </a:pPr>
            <a:r>
              <a:rPr sz="1350" b="1">
                <a:solidFill>
                  <a:srgbClr val="FF6B2B"/>
                </a:solidFill>
              </a:rPr>
              <a:t>no fluff</a:t>
            </a:r>
          </a:p>
        </p:txBody>
      </p:sp>
      <p:sp>
        <p:nvSpPr>
          <p:cNvPr id="11" name="pill-verify-next">
            <a:extLst xmlns:a="http://schemas.openxmlformats.org/drawingml/2006/main">
              <a:ext uri="{FF2B5EF4-FFF2-40B4-BE49-F238E27FC236}">
                <a16:creationId xmlns:a16="http://schemas.microsoft.com/office/drawing/2014/main" id="{3D1040F1-1809-421B-ABF9-32843D5A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9532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3922"/>
            </a:srgbClr>
          </a:solidFill>
        </p:spPr>
      </p:sp>
      <p:sp>
        <p:nvSpPr>
          <p:cNvPr id="12" name="pill-text-verify next">
            <a:extLst xmlns:a="http://schemas.openxmlformats.org/drawingml/2006/main">
              <a:ext uri="{FF2B5EF4-FFF2-40B4-BE49-F238E27FC236}">
                <a16:creationId xmlns:a16="http://schemas.microsoft.com/office/drawing/2014/main" id="{7D2DC8A7-85B0-4E2F-A610-DF6571D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0866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9D6A4"/>
                </a:solidFill>
              </a:defRPr>
            </a:pPr>
            <a:r>
              <a:rPr sz="1350" b="1">
                <a:solidFill>
                  <a:srgbClr val="79D6A4"/>
                </a:solidFill>
              </a:rPr>
              <a:t>verify next</a:t>
            </a:r>
          </a:p>
        </p:txBody>
      </p:sp>
      <p:sp>
        <p:nvSpPr>
          <p:cNvPr id="13" name="pill-30-day-plan">
            <a:extLst xmlns:a="http://schemas.openxmlformats.org/drawingml/2006/main">
              <a:ext uri="{FF2B5EF4-FFF2-40B4-BE49-F238E27FC236}">
                <a16:creationId xmlns:a16="http://schemas.microsoft.com/office/drawing/2014/main" id="{BFC731CF-181C-4582-887F-8C13DC0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953250"/>
            <a:ext cx="152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3922"/>
            </a:srgbClr>
          </a:solidFill>
        </p:spPr>
      </p:sp>
      <p:sp>
        <p:nvSpPr>
          <p:cNvPr id="14" name="pill-text-30-day plan">
            <a:extLst xmlns:a="http://schemas.openxmlformats.org/drawingml/2006/main">
              <a:ext uri="{FF2B5EF4-FFF2-40B4-BE49-F238E27FC236}">
                <a16:creationId xmlns:a16="http://schemas.microsoft.com/office/drawing/2014/main" id="{37E34967-1799-4B4F-BC48-94AAC5C5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0866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A8FF"/>
                </a:solidFill>
              </a:defRPr>
            </a:pPr>
            <a:r>
              <a:rPr sz="1350" b="1">
                <a:solidFill>
                  <a:srgbClr val="7AA8FF"/>
                </a:solidFill>
              </a:rPr>
              <a:t>30-day plan</a:t>
            </a:r>
          </a:p>
        </p:txBody>
      </p:sp>
      <p:sp>
        <p:nvSpPr>
          <p:cNvPr id="15" name="cover-1">
            <a:extLst xmlns:a="http://schemas.openxmlformats.org/drawingml/2006/main">
              <a:ext uri="{FF2B5EF4-FFF2-40B4-BE49-F238E27FC236}">
                <a16:creationId xmlns:a16="http://schemas.microsoft.com/office/drawing/2014/main" id="{D4F0A9CC-A421-460C-B9B6-70EE1716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71700"/>
            <a:ext cx="257175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78000"/>
              </a:lnSpc>
              <a:buNone/>
              <a:defRPr sz="26250" b="1">
                <a:solidFill>
                  <a:srgbClr val="FF6B2B"/>
                </a:solidFill>
              </a:defRPr>
            </a:pPr>
            <a:r>
              <a:rPr sz="26250" b="1">
                <a:solidFill>
                  <a:srgbClr val="FF6B2B"/>
                </a:solidFill>
              </a:rPr>
              <a:t>1</a:t>
            </a:r>
          </a:p>
        </p:txBody>
      </p:sp>
      <p:sp>
        <p:nvSpPr>
          <p:cNvPr id="16" name="cover-finding">
            <a:extLst xmlns:a="http://schemas.openxmlformats.org/drawingml/2006/main">
              <a:ext uri="{FF2B5EF4-FFF2-40B4-BE49-F238E27FC236}">
                <a16:creationId xmlns:a16="http://schemas.microsoft.com/office/drawing/2014/main" id="{5F705C6D-3D7C-4929-806A-442072ED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219700"/>
            <a:ext cx="29146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5F2EA"/>
                </a:solidFill>
              </a:defRPr>
            </a:pPr>
            <a:r>
              <a:rPr sz="2850" b="1">
                <a:solidFill>
                  <a:srgbClr val="F5F2EA"/>
                </a:solidFill>
              </a:rPr>
              <a:t>confirmed public exposure</a:t>
            </a:r>
          </a:p>
        </p:txBody>
      </p:sp>
      <p:sp>
        <p:nvSpPr>
          <p:cNvPr id="17" name="cover-checks">
            <a:extLst xmlns:a="http://schemas.openxmlformats.org/drawingml/2006/main">
              <a:ext uri="{FF2B5EF4-FFF2-40B4-BE49-F238E27FC236}">
                <a16:creationId xmlns:a16="http://schemas.microsoft.com/office/drawing/2014/main" id="{C9837F14-125F-4445-B77D-3EF6785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3436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A49F97"/>
                </a:solidFill>
              </a:defRPr>
            </a:pPr>
            <a:r>
              <a:rPr sz="2250" b="0">
                <a:solidFill>
                  <a:srgbClr val="A49F97"/>
                </a:solidFill>
              </a:rPr>
              <a:t>4 verification checks</a:t>
            </a:r>
          </a:p>
        </p:txBody>
      </p:sp>
      <p:sp>
        <p:nvSpPr>
          <p:cNvPr id="18" name="cover-bottom">
            <a:extLst xmlns:a="http://schemas.openxmlformats.org/drawingml/2006/main">
              <a:ext uri="{FF2B5EF4-FFF2-40B4-BE49-F238E27FC236}">
                <a16:creationId xmlns:a16="http://schemas.microsoft.com/office/drawing/2014/main" id="{D4984138-39F6-4FF1-8B82-726A663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086600"/>
            <a:ext cx="2114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0D7E8"/>
                </a:solidFill>
              </a:defRPr>
            </a:pPr>
            <a:r>
              <a:rPr sz="2250" b="1">
                <a:solidFill>
                  <a:srgbClr val="70D7E8"/>
                </a:solidFill>
              </a:rPr>
              <a:t>Fix /health first.</a:t>
            </a:r>
          </a:p>
        </p:txBody>
      </p:sp>
      <p:sp>
        <p:nvSpPr>
          <p:cNvPr id="19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B2BBB296-339D-4C0A-A5CF-A3F6130E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0" name="source-1">
            <a:extLst xmlns:a="http://schemas.openxmlformats.org/drawingml/2006/main">
              <a:ext uri="{FF2B5EF4-FFF2-40B4-BE49-F238E27FC236}">
                <a16:creationId xmlns:a16="http://schemas.microsoft.com/office/drawing/2014/main" id="{D4ED55F7-4C4F-444F-A9D4-B3069FC1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Passive public-surface audit. Snapshot 2026-05-18.</a:t>
            </a:r>
          </a:p>
        </p:txBody>
      </p:sp>
      <p:sp>
        <p:nvSpPr>
          <p:cNvPr id="21" name="num-1">
            <a:extLst xmlns:a="http://schemas.openxmlformats.org/drawingml/2006/main">
              <a:ext uri="{FF2B5EF4-FFF2-40B4-BE49-F238E27FC236}">
                <a16:creationId xmlns:a16="http://schemas.microsoft.com/office/drawing/2014/main" id="{6D7E60C7-D5CB-4610-95A0-BB7EFEAA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39348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5944B8-9A19-4CED-9CDE-2C348EF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8"/>
          </a:solidFill>
        </p:spPr>
      </p:sp>
      <p:sp>
        <p:nvSpPr>
          <p:cNvPr id="2" name="background-blank">
            <a:extLst xmlns:a="http://schemas.openxmlformats.org/drawingml/2006/main">
              <a:ext uri="{FF2B5EF4-FFF2-40B4-BE49-F238E27FC236}">
                <a16:creationId xmlns:a16="http://schemas.microsoft.com/office/drawing/2014/main" id="{984801B2-2526-4AE2-96CE-7CEA3E4A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grid-overlay">
            <a:extLst xmlns:a="http://schemas.openxmlformats.org/drawingml/2006/main">
              <a:ext uri="{FF2B5EF4-FFF2-40B4-BE49-F238E27FC236}">
                <a16:creationId xmlns:a16="http://schemas.microsoft.com/office/drawing/2014/main" id="{7A17FAC7-F394-4026-9B1F-EA7D51E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grid-placeholder">
            <a:extLst xmlns:a="http://schemas.openxmlformats.org/drawingml/2006/main">
              <a:ext uri="{FF2B5EF4-FFF2-40B4-BE49-F238E27FC236}">
                <a16:creationId xmlns:a16="http://schemas.microsoft.com/office/drawing/2014/main" id="{3A7E0AEA-8DE4-4F05-8076-0880EF0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kicker-2">
            <a:extLst xmlns:a="http://schemas.openxmlformats.org/drawingml/2006/main">
              <a:ext uri="{FF2B5EF4-FFF2-40B4-BE49-F238E27FC236}">
                <a16:creationId xmlns:a16="http://schemas.microsoft.com/office/drawing/2014/main" id="{4C7610F6-8E9B-4FAC-9284-227FA664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2B"/>
                </a:solidFill>
              </a:defRPr>
            </a:pPr>
            <a:r>
              <a:rPr sz="1350" b="1">
                <a:solidFill>
                  <a:srgbClr val="FF6B2B"/>
                </a:solidFill>
              </a:rPr>
              <a:t>SLIDE 02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566D1398-CCFD-4960-8B83-B8551C2B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1811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700" b="1">
                <a:solidFill>
                  <a:srgbClr val="F5F2EA"/>
                </a:solidFill>
              </a:defRPr>
            </a:pPr>
            <a:r>
              <a:rPr sz="5700" b="1">
                <a:solidFill>
                  <a:srgbClr val="F5F2EA"/>
                </a:solidFill>
              </a:rPr>
              <a:t>Confirmed problem: public /health leaks backend map.</a:t>
            </a:r>
          </a:p>
        </p:txBody>
      </p:sp>
      <p:sp>
        <p:nvSpPr>
          <p:cNvPr id="7" name="subtitle-2">
            <a:extLst xmlns:a="http://schemas.openxmlformats.org/drawingml/2006/main">
              <a:ext uri="{FF2B5EF4-FFF2-40B4-BE49-F238E27FC236}">
                <a16:creationId xmlns:a16="http://schemas.microsoft.com/office/drawing/2014/main" id="{3293B077-7B22-44D7-A753-7F8DC36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7010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 b="0">
                <a:solidFill>
                  <a:srgbClr val="A49F97"/>
                </a:solidFill>
              </a:defRPr>
            </a:pPr>
            <a:r>
              <a:rPr sz="2100" b="0">
                <a:solidFill>
                  <a:srgbClr val="A49F97"/>
                </a:solidFill>
              </a:rPr>
              <a:t>Public users should not see internal services or local ports.</a:t>
            </a:r>
          </a:p>
        </p:txBody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713F7BDB-B829-4083-A582-5BC85725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104775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412"/>
          </a:solidFill>
        </p:spPr>
      </p:sp>
      <p:sp>
        <p:nvSpPr>
          <p:cNvPr id="9" name="term-route">
            <a:extLst xmlns:a="http://schemas.openxmlformats.org/drawingml/2006/main">
              <a:ext uri="{FF2B5EF4-FFF2-40B4-BE49-F238E27FC236}">
                <a16:creationId xmlns:a16="http://schemas.microsoft.com/office/drawing/2014/main" id="{E99CB775-017F-4D07-9D20-6272A7C4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0D7E8"/>
                </a:solidFill>
              </a:defRPr>
            </a:pPr>
            <a:r>
              <a:rPr sz="2100" b="0">
                <a:solidFill>
                  <a:srgbClr val="70D7E8"/>
                </a:solidFill>
              </a:rPr>
              <a:t>GET /health</a:t>
            </a:r>
          </a:p>
        </p:txBody>
      </p:sp>
      <p:sp>
        <p:nvSpPr>
          <p:cNvPr id="10" name="pill-http-200">
            <a:extLst xmlns:a="http://schemas.openxmlformats.org/drawingml/2006/main">
              <a:ext uri="{FF2B5EF4-FFF2-40B4-BE49-F238E27FC236}">
                <a16:creationId xmlns:a16="http://schemas.microsoft.com/office/drawing/2014/main" id="{4798B448-2F7F-4206-938B-94C91F0D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43500"/>
            <a:ext cx="11811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3922"/>
            </a:srgbClr>
          </a:solidFill>
        </p:spPr>
      </p:sp>
      <p:sp>
        <p:nvSpPr>
          <p:cNvPr id="11" name="pill-text-HTTP 200">
            <a:extLst xmlns:a="http://schemas.openxmlformats.org/drawingml/2006/main">
              <a:ext uri="{FF2B5EF4-FFF2-40B4-BE49-F238E27FC236}">
                <a16:creationId xmlns:a16="http://schemas.microsoft.com/office/drawing/2014/main" id="{88B7B8E5-CFBA-4130-B995-82011880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276850"/>
            <a:ext cx="91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9D6A4"/>
                </a:solidFill>
              </a:defRPr>
            </a:pPr>
            <a:r>
              <a:rPr sz="1350" b="1">
                <a:solidFill>
                  <a:srgbClr val="79D6A4"/>
                </a:solidFill>
              </a:rPr>
              <a:t>HTTP 200</a:t>
            </a:r>
          </a:p>
        </p:txBody>
      </p:sp>
      <p:sp>
        <p:nvSpPr>
          <p:cNvPr id="12" name="term-rule">
            <a:extLst xmlns:a="http://schemas.openxmlformats.org/drawingml/2006/main">
              <a:ext uri="{FF2B5EF4-FFF2-40B4-BE49-F238E27FC236}">
                <a16:creationId xmlns:a16="http://schemas.microsoft.com/office/drawing/2014/main" id="{819DA3EA-1AA8-4AB0-A510-FEA5CFF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721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rm-status">
            <a:extLst xmlns:a="http://schemas.openxmlformats.org/drawingml/2006/main">
              <a:ext uri="{FF2B5EF4-FFF2-40B4-BE49-F238E27FC236}">
                <a16:creationId xmlns:a16="http://schemas.microsoft.com/office/drawing/2014/main" id="{34DC8512-EFEC-4EC7-93C0-73963494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62650"/>
            <a:ext cx="982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A"/>
                </a:solidFill>
              </a:defRPr>
            </a:pPr>
            <a:r>
              <a:rPr sz="2250" b="0">
                <a:solidFill>
                  <a:srgbClr val="F5F2EA"/>
                </a:solidFill>
              </a:rPr>
              <a:t>"status": "ok"</a:t>
            </a:r>
          </a:p>
        </p:txBody>
      </p:sp>
      <p:sp>
        <p:nvSpPr>
          <p:cNvPr id="14" name="term-services">
            <a:extLst xmlns:a="http://schemas.openxmlformats.org/drawingml/2006/main">
              <a:ext uri="{FF2B5EF4-FFF2-40B4-BE49-F238E27FC236}">
                <a16:creationId xmlns:a16="http://schemas.microsoft.com/office/drawing/2014/main" id="{52BD9DBD-6EB5-458F-8A0E-0EED011A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477000"/>
            <a:ext cx="773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 b="0">
                <a:solidFill>
                  <a:srgbClr val="FF6B2B"/>
                </a:solidFill>
              </a:defRPr>
            </a:pPr>
            <a:r>
              <a:rPr sz="2100" b="0">
                <a:solidFill>
                  <a:srgbClr val="FF6B2B"/>
                </a:solidFill>
              </a:rPr>
              <a:t>"services": auth, wallet, users, content, events, map, chat, admin</a:t>
            </a:r>
          </a:p>
        </p:txBody>
      </p:sp>
      <p:sp>
        <p:nvSpPr>
          <p:cNvPr id="15" name="term-ports">
            <a:extLst xmlns:a="http://schemas.openxmlformats.org/drawingml/2006/main">
              <a:ext uri="{FF2B5EF4-FFF2-40B4-BE49-F238E27FC236}">
                <a16:creationId xmlns:a16="http://schemas.microsoft.com/office/drawing/2014/main" id="{3ADFD390-C3CD-4773-8892-CB59B9B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029450"/>
            <a:ext cx="346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950" b="0">
                <a:solidFill>
                  <a:srgbClr val="F1BD58"/>
                </a:solidFill>
              </a:defRPr>
            </a:pPr>
            <a:r>
              <a:rPr sz="1950" b="0">
                <a:solidFill>
                  <a:srgbClr val="F1BD58"/>
                </a:solidFill>
              </a:rPr>
              <a:t>"ports": localhost details visible</a:t>
            </a:r>
          </a:p>
        </p:txBody>
      </p:sp>
      <p:sp>
        <p:nvSpPr>
          <p:cNvPr id="16" name="ev-m1-value">
            <a:extLst xmlns:a="http://schemas.openxmlformats.org/drawingml/2006/main">
              <a:ext uri="{FF2B5EF4-FFF2-40B4-BE49-F238E27FC236}">
                <a16:creationId xmlns:a16="http://schemas.microsoft.com/office/drawing/2014/main" id="{27450A56-3B3F-41FA-8414-8A684349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857750"/>
            <a:ext cx="342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2000"/>
              </a:lnSpc>
              <a:buNone/>
              <a:defRPr sz="6600" b="1">
                <a:solidFill>
                  <a:srgbClr val="FF6B2B"/>
                </a:solidFill>
              </a:defRPr>
            </a:pPr>
            <a:r>
              <a:rPr sz="6600" b="1">
                <a:solidFill>
                  <a:srgbClr val="FF6B2B"/>
                </a:solidFill>
              </a:rPr>
              <a:t>8</a:t>
            </a:r>
          </a:p>
        </p:txBody>
      </p:sp>
      <p:sp>
        <p:nvSpPr>
          <p:cNvPr id="17" name="ev-m1-label">
            <a:extLst xmlns:a="http://schemas.openxmlformats.org/drawingml/2006/main">
              <a:ext uri="{FF2B5EF4-FFF2-40B4-BE49-F238E27FC236}">
                <a16:creationId xmlns:a16="http://schemas.microsoft.com/office/drawing/2014/main" id="{2FDD2680-FC99-4E1D-BEFB-99091940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7531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service names visible</a:t>
            </a:r>
          </a:p>
        </p:txBody>
      </p:sp>
      <p:sp>
        <p:nvSpPr>
          <p:cNvPr id="18" name="ev-m2-value">
            <a:extLst xmlns:a="http://schemas.openxmlformats.org/drawingml/2006/main">
              <a:ext uri="{FF2B5EF4-FFF2-40B4-BE49-F238E27FC236}">
                <a16:creationId xmlns:a16="http://schemas.microsoft.com/office/drawing/2014/main" id="{4B03D271-A72E-42CA-9B66-4E9BB99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362700"/>
            <a:ext cx="342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2000"/>
              </a:lnSpc>
              <a:buNone/>
              <a:defRPr sz="6600" b="1">
                <a:solidFill>
                  <a:srgbClr val="79D6A4"/>
                </a:solidFill>
              </a:defRPr>
            </a:pPr>
            <a:r>
              <a:rPr sz="6600" b="1">
                <a:solidFill>
                  <a:srgbClr val="79D6A4"/>
                </a:solidFill>
              </a:rPr>
              <a:t>HIGH</a:t>
            </a:r>
          </a:p>
        </p:txBody>
      </p:sp>
      <p:sp>
        <p:nvSpPr>
          <p:cNvPr id="19" name="ev-m2-label">
            <a:extLst xmlns:a="http://schemas.openxmlformats.org/drawingml/2006/main">
              <a:ext uri="{FF2B5EF4-FFF2-40B4-BE49-F238E27FC236}">
                <a16:creationId xmlns:a16="http://schemas.microsoft.com/office/drawing/2014/main" id="{F90F5256-7E73-4453-87FA-9369E7B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258050"/>
            <a:ext cx="2057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info disclosure priority</a:t>
            </a:r>
          </a:p>
        </p:txBody>
      </p:sp>
      <p:sp>
        <p:nvSpPr>
          <p:cNvPr id="20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9D07BB4A-08DB-4AA6-BA0F-3D7E41D9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1" name="source-2">
            <a:extLst xmlns:a="http://schemas.openxmlformats.org/drawingml/2006/main">
              <a:ext uri="{FF2B5EF4-FFF2-40B4-BE49-F238E27FC236}">
                <a16:creationId xmlns:a16="http://schemas.microsoft.com/office/drawing/2014/main" id="{535CCB84-AA45-4F60-BDAC-4840EF3B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Passive public-surface audit. Snapshot 2026-05-18.</a:t>
            </a:r>
          </a:p>
        </p:txBody>
      </p:sp>
      <p:sp>
        <p:nvSpPr>
          <p:cNvPr id="22" name="num-2">
            <a:extLst xmlns:a="http://schemas.openxmlformats.org/drawingml/2006/main">
              <a:ext uri="{FF2B5EF4-FFF2-40B4-BE49-F238E27FC236}">
                <a16:creationId xmlns:a16="http://schemas.microsoft.com/office/drawing/2014/main" id="{BEC3D8A7-F464-48B9-870E-3FC805AA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48225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97F80C-1A5A-4D52-B9CF-C1A1F21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8"/>
          </a:solidFill>
        </p:spPr>
      </p:sp>
      <p:sp>
        <p:nvSpPr>
          <p:cNvPr id="2" name="background-blank">
            <a:extLst xmlns:a="http://schemas.openxmlformats.org/drawingml/2006/main">
              <a:ext uri="{FF2B5EF4-FFF2-40B4-BE49-F238E27FC236}">
                <a16:creationId xmlns:a16="http://schemas.microsoft.com/office/drawing/2014/main" id="{304C15D0-B371-4D66-8F6E-9CA639C9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grid-overlay">
            <a:extLst xmlns:a="http://schemas.openxmlformats.org/drawingml/2006/main">
              <a:ext uri="{FF2B5EF4-FFF2-40B4-BE49-F238E27FC236}">
                <a16:creationId xmlns:a16="http://schemas.microsoft.com/office/drawing/2014/main" id="{303932FE-893F-442C-A28D-32421816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grid-placeholder">
            <a:extLst xmlns:a="http://schemas.openxmlformats.org/drawingml/2006/main">
              <a:ext uri="{FF2B5EF4-FFF2-40B4-BE49-F238E27FC236}">
                <a16:creationId xmlns:a16="http://schemas.microsoft.com/office/drawing/2014/main" id="{1B6190A6-8B1C-418E-AEA8-95E46EB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kicker-3">
            <a:extLst xmlns:a="http://schemas.openxmlformats.org/drawingml/2006/main">
              <a:ext uri="{FF2B5EF4-FFF2-40B4-BE49-F238E27FC236}">
                <a16:creationId xmlns:a16="http://schemas.microsoft.com/office/drawing/2014/main" id="{86EC9BDB-A190-4DA5-BAEC-B07AF77D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2B"/>
                </a:solidFill>
              </a:defRPr>
            </a:pPr>
            <a:r>
              <a:rPr sz="1350" b="1">
                <a:solidFill>
                  <a:srgbClr val="FF6B2B"/>
                </a:solidFill>
              </a:rPr>
              <a:t>SLIDE 03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E317C89D-AAE7-45DD-92CE-45FB969C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43053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700" b="1">
                <a:solidFill>
                  <a:srgbClr val="F5F2EA"/>
                </a:solidFill>
              </a:defRPr>
            </a:pPr>
            <a:r>
              <a:rPr sz="5700" b="1">
                <a:solidFill>
                  <a:srgbClr val="F5F2EA"/>
                </a:solidFill>
              </a:rPr>
              <a:t>Problem list.</a:t>
            </a:r>
          </a:p>
        </p:txBody>
      </p:sp>
      <p:sp>
        <p:nvSpPr>
          <p:cNvPr id="7" name="subtitle-3">
            <a:extLst xmlns:a="http://schemas.openxmlformats.org/drawingml/2006/main">
              <a:ext uri="{FF2B5EF4-FFF2-40B4-BE49-F238E27FC236}">
                <a16:creationId xmlns:a16="http://schemas.microsoft.com/office/drawing/2014/main" id="{B30E0341-6410-4BC5-AAFC-D0B94BC2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72199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 b="0">
                <a:solidFill>
                  <a:srgbClr val="A49F97"/>
                </a:solidFill>
              </a:defRPr>
            </a:pPr>
            <a:r>
              <a:rPr sz="2100" b="0">
                <a:solidFill>
                  <a:srgbClr val="A49F97"/>
                </a:solidFill>
              </a:rPr>
              <a:t>Confirmed findings and staging checks are separated below.</a:t>
            </a:r>
          </a:p>
        </p:txBody>
      </p:sp>
      <p:sp>
        <p:nvSpPr>
          <p:cNvPr id="8" name="badge-health">
            <a:extLst xmlns:a="http://schemas.openxmlformats.org/drawingml/2006/main">
              <a:ext uri="{FF2B5EF4-FFF2-40B4-BE49-F238E27FC236}">
                <a16:creationId xmlns:a16="http://schemas.microsoft.com/office/drawing/2014/main" id="{DCCD8F06-9FDE-4367-8CE0-FD96766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05375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2B">
              <a:alpha val="13333"/>
            </a:srgbClr>
          </a:solidFill>
        </p:spPr>
      </p:sp>
      <p:sp>
        <p:nvSpPr>
          <p:cNvPr id="9" name="badge-text-health">
            <a:extLst xmlns:a="http://schemas.openxmlformats.org/drawingml/2006/main">
              <a:ext uri="{FF2B5EF4-FFF2-40B4-BE49-F238E27FC236}">
                <a16:creationId xmlns:a16="http://schemas.microsoft.com/office/drawing/2014/main" id="{5CD37BB4-58D7-4D2E-AD84-47B5F5B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29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2B"/>
                </a:solidFill>
              </a:defRPr>
            </a:pPr>
            <a:r>
              <a:rPr sz="1275" b="1">
                <a:solidFill>
                  <a:srgbClr val="FF6B2B"/>
                </a:solidFill>
              </a:rPr>
              <a:t>CONFIRMED</a:t>
            </a:r>
          </a:p>
        </p:txBody>
      </p:sp>
      <p:sp>
        <p:nvSpPr>
          <p:cNvPr id="10" name="issue-title-health">
            <a:extLst xmlns:a="http://schemas.openxmlformats.org/drawingml/2006/main">
              <a:ext uri="{FF2B5EF4-FFF2-40B4-BE49-F238E27FC236}">
                <a16:creationId xmlns:a16="http://schemas.microsoft.com/office/drawing/2014/main" id="{77C5F064-D793-48E2-9F83-5056901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12039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Detailed public health-check</a:t>
            </a:r>
          </a:p>
        </p:txBody>
      </p:sp>
      <p:sp>
        <p:nvSpPr>
          <p:cNvPr id="11" name="issue-body-health">
            <a:extLst xmlns:a="http://schemas.openxmlformats.org/drawingml/2006/main">
              <a:ext uri="{FF2B5EF4-FFF2-40B4-BE49-F238E27FC236}">
                <a16:creationId xmlns:a16="http://schemas.microsoft.com/office/drawing/2014/main" id="{DCD8B6E8-5EBD-4CBB-A7C8-B3E72D8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5638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Exposes backend services and local implementation details.</a:t>
            </a:r>
          </a:p>
        </p:txBody>
      </p:sp>
      <p:sp>
        <p:nvSpPr>
          <p:cNvPr id="12" name="badge-rbac">
            <a:extLst xmlns:a="http://schemas.openxmlformats.org/drawingml/2006/main">
              <a:ext uri="{FF2B5EF4-FFF2-40B4-BE49-F238E27FC236}">
                <a16:creationId xmlns:a16="http://schemas.microsoft.com/office/drawing/2014/main" id="{4D864502-9457-4A64-8218-66FFBAC4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47892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D6A4">
              <a:alpha val="13333"/>
            </a:srgbClr>
          </a:solidFill>
        </p:spPr>
      </p:sp>
      <p:sp>
        <p:nvSpPr>
          <p:cNvPr id="13" name="badge-text-rbac">
            <a:extLst xmlns:a="http://schemas.openxmlformats.org/drawingml/2006/main">
              <a:ext uri="{FF2B5EF4-FFF2-40B4-BE49-F238E27FC236}">
                <a16:creationId xmlns:a16="http://schemas.microsoft.com/office/drawing/2014/main" id="{0BEE9D09-2BCD-4AB6-89E2-0057F43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2674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9D6A4"/>
                </a:solidFill>
              </a:defRPr>
            </a:pPr>
            <a:r>
              <a:rPr sz="1275" b="1">
                <a:solidFill>
                  <a:srgbClr val="79D6A4"/>
                </a:solidFill>
              </a:rPr>
              <a:t>VERIFY</a:t>
            </a:r>
          </a:p>
        </p:txBody>
      </p:sp>
      <p:sp>
        <p:nvSpPr>
          <p:cNvPr id="14" name="issue-title-rbac">
            <a:extLst xmlns:a="http://schemas.openxmlformats.org/drawingml/2006/main">
              <a:ext uri="{FF2B5EF4-FFF2-40B4-BE49-F238E27FC236}">
                <a16:creationId xmlns:a16="http://schemas.microsoft.com/office/drawing/2014/main" id="{0E2762C5-44DF-494A-B310-FF72CB18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53150"/>
            <a:ext cx="12039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RBAC on admin, wallet and creator actions</a:t>
            </a:r>
          </a:p>
        </p:txBody>
      </p:sp>
      <p:sp>
        <p:nvSpPr>
          <p:cNvPr id="15" name="issue-body-rbac">
            <a:extLst xmlns:a="http://schemas.openxmlformats.org/drawingml/2006/main">
              <a:ext uri="{FF2B5EF4-FFF2-40B4-BE49-F238E27FC236}">
                <a16:creationId xmlns:a16="http://schemas.microsoft.com/office/drawing/2014/main" id="{11BA741D-5061-4929-8CCC-FBA4D844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572250"/>
            <a:ext cx="605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Check that normal users cannot reach privileged actions or data.</a:t>
            </a:r>
          </a:p>
        </p:txBody>
      </p:sp>
      <p:sp>
        <p:nvSpPr>
          <p:cNvPr id="16" name="badge-geo">
            <a:extLst xmlns:a="http://schemas.openxmlformats.org/drawingml/2006/main">
              <a:ext uri="{FF2B5EF4-FFF2-40B4-BE49-F238E27FC236}">
                <a16:creationId xmlns:a16="http://schemas.microsoft.com/office/drawing/2014/main" id="{3EA327CC-9305-46F6-80B7-66015B0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98716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7E8">
              <a:alpha val="13333"/>
            </a:srgbClr>
          </a:solidFill>
        </p:spPr>
      </p:sp>
      <p:sp>
        <p:nvSpPr>
          <p:cNvPr id="17" name="badge-text-geo">
            <a:extLst xmlns:a="http://schemas.openxmlformats.org/drawingml/2006/main">
              <a:ext uri="{FF2B5EF4-FFF2-40B4-BE49-F238E27FC236}">
                <a16:creationId xmlns:a16="http://schemas.microsoft.com/office/drawing/2014/main" id="{7EFF8835-1F34-4035-A265-3B772018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2199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D7E8"/>
                </a:solidFill>
              </a:defRPr>
            </a:pPr>
            <a:r>
              <a:rPr sz="1275" b="1">
                <a:solidFill>
                  <a:srgbClr val="70D7E8"/>
                </a:solidFill>
              </a:rPr>
              <a:t>VERIFY</a:t>
            </a:r>
          </a:p>
        </p:txBody>
      </p:sp>
      <p:sp>
        <p:nvSpPr>
          <p:cNvPr id="18" name="issue-title-geo">
            <a:extLst xmlns:a="http://schemas.openxmlformats.org/drawingml/2006/main">
              <a:ext uri="{FF2B5EF4-FFF2-40B4-BE49-F238E27FC236}">
                <a16:creationId xmlns:a16="http://schemas.microsoft.com/office/drawing/2014/main" id="{CDDBED09-86E9-4F72-94D5-705DDA24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105650"/>
            <a:ext cx="12039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Geo privacy on nearby, check-ins and map data</a:t>
            </a:r>
          </a:p>
        </p:txBody>
      </p:sp>
      <p:sp>
        <p:nvSpPr>
          <p:cNvPr id="19" name="issue-body-geo">
            <a:extLst xmlns:a="http://schemas.openxmlformats.org/drawingml/2006/main">
              <a:ext uri="{FF2B5EF4-FFF2-40B4-BE49-F238E27FC236}">
                <a16:creationId xmlns:a16="http://schemas.microsoft.com/office/drawing/2014/main" id="{BC0A3BDA-257C-49F8-9799-A4308E98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524750"/>
            <a:ext cx="6515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Check precision, scraping resistance, TTL and de-anonymization risk.</a:t>
            </a:r>
          </a:p>
        </p:txBody>
      </p:sp>
      <p:sp>
        <p:nvSpPr>
          <p:cNvPr id="20" name="badge-abuse">
            <a:extLst xmlns:a="http://schemas.openxmlformats.org/drawingml/2006/main">
              <a:ext uri="{FF2B5EF4-FFF2-40B4-BE49-F238E27FC236}">
                <a16:creationId xmlns:a16="http://schemas.microsoft.com/office/drawing/2014/main" id="{E8AF6BF2-A940-4C09-8E71-E9650ABC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341233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D58">
              <a:alpha val="13333"/>
            </a:srgbClr>
          </a:solidFill>
        </p:spPr>
      </p:sp>
      <p:sp>
        <p:nvSpPr>
          <p:cNvPr id="21" name="badge-text-abuse">
            <a:extLst xmlns:a="http://schemas.openxmlformats.org/drawingml/2006/main">
              <a:ext uri="{FF2B5EF4-FFF2-40B4-BE49-F238E27FC236}">
                <a16:creationId xmlns:a16="http://schemas.microsoft.com/office/drawing/2014/main" id="{50F716B2-DEE0-43C1-A7A1-1062CF6C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458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1BD58"/>
                </a:solidFill>
              </a:defRPr>
            </a:pPr>
            <a:r>
              <a:rPr sz="1275" b="1">
                <a:solidFill>
                  <a:srgbClr val="F1BD58"/>
                </a:solidFill>
              </a:rPr>
              <a:t>VERIFY</a:t>
            </a:r>
          </a:p>
        </p:txBody>
      </p:sp>
      <p:sp>
        <p:nvSpPr>
          <p:cNvPr id="22" name="issue-title-abuse">
            <a:extLst xmlns:a="http://schemas.openxmlformats.org/drawingml/2006/main">
              <a:ext uri="{FF2B5EF4-FFF2-40B4-BE49-F238E27FC236}">
                <a16:creationId xmlns:a16="http://schemas.microsoft.com/office/drawing/2014/main" id="{B92B2082-D055-4130-A3BF-4C95D556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343900"/>
            <a:ext cx="12039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Abuse limits on login, search, chat and map queries</a:t>
            </a:r>
          </a:p>
        </p:txBody>
      </p:sp>
      <p:sp>
        <p:nvSpPr>
          <p:cNvPr id="23" name="issue-body-abuse">
            <a:extLst xmlns:a="http://schemas.openxmlformats.org/drawingml/2006/main">
              <a:ext uri="{FF2B5EF4-FFF2-40B4-BE49-F238E27FC236}">
                <a16:creationId xmlns:a16="http://schemas.microsoft.com/office/drawing/2014/main" id="{3045F7FD-60C3-4489-A947-7BBA526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763000"/>
            <a:ext cx="6324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Check rate limits, enumeration resistance and monitoring coverage.</a:t>
            </a:r>
          </a:p>
        </p:txBody>
      </p:sp>
      <p:sp>
        <p:nvSpPr>
          <p:cNvPr id="24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3BA0D030-8048-4AFD-A725-78D5D7F4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5" name="source-3">
            <a:extLst xmlns:a="http://schemas.openxmlformats.org/drawingml/2006/main">
              <a:ext uri="{FF2B5EF4-FFF2-40B4-BE49-F238E27FC236}">
                <a16:creationId xmlns:a16="http://schemas.microsoft.com/office/drawing/2014/main" id="{52F40A2A-4547-41DF-8313-82C54B00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Passive public-surface audit. Snapshot 2026-05-18.</a:t>
            </a:r>
          </a:p>
        </p:txBody>
      </p:sp>
      <p:sp>
        <p:nvSpPr>
          <p:cNvPr id="26" name="num-3">
            <a:extLst xmlns:a="http://schemas.openxmlformats.org/drawingml/2006/main">
              <a:ext uri="{FF2B5EF4-FFF2-40B4-BE49-F238E27FC236}">
                <a16:creationId xmlns:a16="http://schemas.microsoft.com/office/drawing/2014/main" id="{7BA5A6AB-872D-4D9F-9658-5C7F92F3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14863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281034-8A43-431A-B05F-59253B6D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8"/>
          </a:solidFill>
        </p:spPr>
      </p:sp>
      <p:sp>
        <p:nvSpPr>
          <p:cNvPr id="2" name="background-blank">
            <a:extLst xmlns:a="http://schemas.openxmlformats.org/drawingml/2006/main">
              <a:ext uri="{FF2B5EF4-FFF2-40B4-BE49-F238E27FC236}">
                <a16:creationId xmlns:a16="http://schemas.microsoft.com/office/drawing/2014/main" id="{F61E85DC-7D6C-49FA-A732-81CBD441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grid-overlay">
            <a:extLst xmlns:a="http://schemas.openxmlformats.org/drawingml/2006/main">
              <a:ext uri="{FF2B5EF4-FFF2-40B4-BE49-F238E27FC236}">
                <a16:creationId xmlns:a16="http://schemas.microsoft.com/office/drawing/2014/main" id="{4775EBF8-4E1E-4EEA-A6A7-0E82807E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grid-placeholder">
            <a:extLst xmlns:a="http://schemas.openxmlformats.org/drawingml/2006/main">
              <a:ext uri="{FF2B5EF4-FFF2-40B4-BE49-F238E27FC236}">
                <a16:creationId xmlns:a16="http://schemas.microsoft.com/office/drawing/2014/main" id="{1AC03962-E0D1-4A44-A501-6F2ED0CF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kicker-4">
            <a:extLst xmlns:a="http://schemas.openxmlformats.org/drawingml/2006/main">
              <a:ext uri="{FF2B5EF4-FFF2-40B4-BE49-F238E27FC236}">
                <a16:creationId xmlns:a16="http://schemas.microsoft.com/office/drawing/2014/main" id="{429974ED-4C11-489A-A42B-FF87BB5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2B"/>
                </a:solidFill>
              </a:defRPr>
            </a:pPr>
            <a:r>
              <a:rPr sz="1350" b="1">
                <a:solidFill>
                  <a:srgbClr val="FF6B2B"/>
                </a:solidFill>
              </a:rPr>
              <a:t>SLIDE 04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D95771C6-7637-42CE-8A35-3DC1824C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32004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700" b="1">
                <a:solidFill>
                  <a:srgbClr val="F5F2EA"/>
                </a:solidFill>
              </a:defRPr>
            </a:pPr>
            <a:r>
              <a:rPr sz="5700" b="1">
                <a:solidFill>
                  <a:srgbClr val="F5F2EA"/>
                </a:solidFill>
              </a:rPr>
              <a:t>Fix order.</a:t>
            </a:r>
          </a:p>
        </p:txBody>
      </p:sp>
      <p:sp>
        <p:nvSpPr>
          <p:cNvPr id="7" name="subtitle-4">
            <a:extLst xmlns:a="http://schemas.openxmlformats.org/drawingml/2006/main">
              <a:ext uri="{FF2B5EF4-FFF2-40B4-BE49-F238E27FC236}">
                <a16:creationId xmlns:a16="http://schemas.microsoft.com/office/drawing/2014/main" id="{5F7A4571-5F5E-448D-9D9E-3522ABF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796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 b="0">
                <a:solidFill>
                  <a:srgbClr val="A49F97"/>
                </a:solidFill>
              </a:defRPr>
            </a:pPr>
            <a:r>
              <a:rPr sz="2100" b="0">
                <a:solidFill>
                  <a:srgbClr val="A49F97"/>
                </a:solidFill>
              </a:rPr>
              <a:t>Start with the exposure that is already confirmed. Then validate the higher-risk flows.</a:t>
            </a:r>
          </a:p>
        </p:txBody>
      </p:sp>
      <p:sp>
        <p:nvSpPr>
          <p:cNvPr id="8" name="action-num-1">
            <a:extLst xmlns:a="http://schemas.openxmlformats.org/drawingml/2006/main">
              <a:ext uri="{FF2B5EF4-FFF2-40B4-BE49-F238E27FC236}">
                <a16:creationId xmlns:a16="http://schemas.microsoft.com/office/drawing/2014/main" id="{26965A52-0FF6-4C83-84FB-07A99C3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1066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2B"/>
                </a:solidFill>
              </a:defRPr>
            </a:pPr>
            <a:r>
              <a:rPr sz="2550" b="1">
                <a:solidFill>
                  <a:srgbClr val="FF6B2B"/>
                </a:solidFill>
              </a:rPr>
              <a:t>01</a:t>
            </a:r>
          </a:p>
        </p:txBody>
      </p:sp>
      <p:sp>
        <p:nvSpPr>
          <p:cNvPr id="9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BFE59E3D-FBD7-46A9-8209-0DB2F4B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2EA"/>
                </a:solidFill>
              </a:defRPr>
            </a:pPr>
            <a:r>
              <a:rPr sz="2250" b="1">
                <a:solidFill>
                  <a:srgbClr val="F5F2EA"/>
                </a:solidFill>
              </a:rPr>
              <a:t>Shrink public /health</a:t>
            </a:r>
          </a:p>
        </p:txBody>
      </p:sp>
      <p:sp>
        <p:nvSpPr>
          <p:cNvPr id="10" name="action-body-1">
            <a:extLst xmlns:a="http://schemas.openxmlformats.org/drawingml/2006/main">
              <a:ext uri="{FF2B5EF4-FFF2-40B4-BE49-F238E27FC236}">
                <a16:creationId xmlns:a16="http://schemas.microsoft.com/office/drawing/2014/main" id="{ADE073ED-B942-4E67-8682-77678163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86350"/>
            <a:ext cx="579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A49F97"/>
                </a:solidFill>
              </a:defRPr>
            </a:pPr>
            <a:r>
              <a:rPr sz="1575" b="0">
                <a:solidFill>
                  <a:srgbClr val="A49F97"/>
                </a:solidFill>
              </a:rPr>
              <a:t>Return only status. No service names, local ports or dependency map.</a:t>
            </a:r>
          </a:p>
        </p:txBody>
      </p:sp>
      <p:sp>
        <p:nvSpPr>
          <p:cNvPr id="11" name="action-num-2">
            <a:extLst xmlns:a="http://schemas.openxmlformats.org/drawingml/2006/main">
              <a:ext uri="{FF2B5EF4-FFF2-40B4-BE49-F238E27FC236}">
                <a16:creationId xmlns:a16="http://schemas.microsoft.com/office/drawing/2014/main" id="{30004788-F3F9-4684-B7B7-76C9848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1066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9D6A4"/>
                </a:solidFill>
              </a:defRPr>
            </a:pPr>
            <a:r>
              <a:rPr sz="2550" b="1">
                <a:solidFill>
                  <a:srgbClr val="79D6A4"/>
                </a:solidFill>
              </a:rPr>
              <a:t>02</a:t>
            </a:r>
          </a:p>
        </p:txBody>
      </p:sp>
      <p:sp>
        <p:nvSpPr>
          <p:cNvPr id="12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4823084A-D752-426F-B0DB-A955678E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2455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2EA"/>
                </a:solidFill>
              </a:defRPr>
            </a:pPr>
            <a:r>
              <a:rPr sz="2250" b="1">
                <a:solidFill>
                  <a:srgbClr val="F5F2EA"/>
                </a:solidFill>
              </a:rPr>
              <a:t>Move detailed health internal</a:t>
            </a:r>
          </a:p>
        </p:txBody>
      </p:sp>
      <p:sp>
        <p:nvSpPr>
          <p:cNvPr id="13" name="action-body-2">
            <a:extLst xmlns:a="http://schemas.openxmlformats.org/drawingml/2006/main">
              <a:ext uri="{FF2B5EF4-FFF2-40B4-BE49-F238E27FC236}">
                <a16:creationId xmlns:a16="http://schemas.microsoft.com/office/drawing/2014/main" id="{3BB22FD0-077D-492A-AA61-703EED6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324600"/>
            <a:ext cx="590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A49F97"/>
                </a:solidFill>
              </a:defRPr>
            </a:pPr>
            <a:r>
              <a:rPr sz="1575" b="0">
                <a:solidFill>
                  <a:srgbClr val="A49F97"/>
                </a:solidFill>
              </a:rPr>
              <a:t>Expose readiness details only to monitoring, VPN or private admin network.</a:t>
            </a:r>
          </a:p>
        </p:txBody>
      </p:sp>
      <p:sp>
        <p:nvSpPr>
          <p:cNvPr id="14" name="action-num-3">
            <a:extLst xmlns:a="http://schemas.openxmlformats.org/drawingml/2006/main">
              <a:ext uri="{FF2B5EF4-FFF2-40B4-BE49-F238E27FC236}">
                <a16:creationId xmlns:a16="http://schemas.microsoft.com/office/drawing/2014/main" id="{EC985F13-7B9D-4B21-8C9E-A2B8D46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410450"/>
            <a:ext cx="1066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0D7E8"/>
                </a:solidFill>
              </a:defRPr>
            </a:pPr>
            <a:r>
              <a:rPr sz="2550" b="1">
                <a:solidFill>
                  <a:srgbClr val="70D7E8"/>
                </a:solidFill>
              </a:rPr>
              <a:t>03</a:t>
            </a:r>
          </a:p>
        </p:txBody>
      </p:sp>
      <p:sp>
        <p:nvSpPr>
          <p:cNvPr id="15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BEDE13FE-DFB0-4637-B0F8-0741819F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16280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2EA"/>
                </a:solidFill>
              </a:defRPr>
            </a:pPr>
            <a:r>
              <a:rPr sz="2250" b="1">
                <a:solidFill>
                  <a:srgbClr val="F5F2EA"/>
                </a:solidFill>
              </a:rPr>
              <a:t>Harden response surface</a:t>
            </a:r>
          </a:p>
        </p:txBody>
      </p:sp>
      <p:sp>
        <p:nvSpPr>
          <p:cNvPr id="16" name="action-body-3">
            <a:extLst xmlns:a="http://schemas.openxmlformats.org/drawingml/2006/main">
              <a:ext uri="{FF2B5EF4-FFF2-40B4-BE49-F238E27FC236}">
                <a16:creationId xmlns:a16="http://schemas.microsoft.com/office/drawing/2014/main" id="{E0AB2061-C801-495C-880C-470AD230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562850"/>
            <a:ext cx="598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A49F97"/>
                </a:solidFill>
              </a:defRPr>
            </a:pPr>
            <a:r>
              <a:rPr sz="1575" b="0">
                <a:solidFill>
                  <a:srgbClr val="A49F97"/>
                </a:solidFill>
              </a:rPr>
              <a:t>Enforce security headers and remove noisy framework fingerprints.</a:t>
            </a:r>
          </a:p>
        </p:txBody>
      </p:sp>
      <p:sp>
        <p:nvSpPr>
          <p:cNvPr id="17" name="action-num-4">
            <a:extLst xmlns:a="http://schemas.openxmlformats.org/drawingml/2006/main">
              <a:ext uri="{FF2B5EF4-FFF2-40B4-BE49-F238E27FC236}">
                <a16:creationId xmlns:a16="http://schemas.microsoft.com/office/drawing/2014/main" id="{1BC23A84-6FE0-4237-9857-726BCE3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648700"/>
            <a:ext cx="1066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BD58"/>
                </a:solidFill>
              </a:defRPr>
            </a:pPr>
            <a:r>
              <a:rPr sz="2550" b="1">
                <a:solidFill>
                  <a:srgbClr val="F1BD58"/>
                </a:solidFill>
              </a:rPr>
              <a:t>04</a:t>
            </a:r>
          </a:p>
        </p:txBody>
      </p:sp>
      <p:sp>
        <p:nvSpPr>
          <p:cNvPr id="18" name="action-title-4">
            <a:extLst xmlns:a="http://schemas.openxmlformats.org/drawingml/2006/main">
              <a:ext uri="{FF2B5EF4-FFF2-40B4-BE49-F238E27FC236}">
                <a16:creationId xmlns:a16="http://schemas.microsoft.com/office/drawing/2014/main" id="{B9E7CCAD-9520-4258-81C3-7FBE47E6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840105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2EA"/>
                </a:solidFill>
              </a:defRPr>
            </a:pPr>
            <a:r>
              <a:rPr sz="2250" b="1">
                <a:solidFill>
                  <a:srgbClr val="F5F2EA"/>
                </a:solidFill>
              </a:rPr>
              <a:t>Run staging validation</a:t>
            </a:r>
          </a:p>
        </p:txBody>
      </p:sp>
      <p:sp>
        <p:nvSpPr>
          <p:cNvPr id="19" name="action-body-4">
            <a:extLst xmlns:a="http://schemas.openxmlformats.org/drawingml/2006/main">
              <a:ext uri="{FF2B5EF4-FFF2-40B4-BE49-F238E27FC236}">
                <a16:creationId xmlns:a16="http://schemas.microsoft.com/office/drawing/2014/main" id="{D0658403-404D-4666-BF41-753BE520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8801100"/>
            <a:ext cx="586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A49F97"/>
                </a:solidFill>
              </a:defRPr>
            </a:pPr>
            <a:r>
              <a:rPr sz="1575" b="0">
                <a:solidFill>
                  <a:srgbClr val="A49F97"/>
                </a:solidFill>
              </a:rPr>
              <a:t>RBAC, geo privacy and abuse limits with approved test accounts.</a:t>
            </a:r>
          </a:p>
        </p:txBody>
      </p:sp>
      <p:sp>
        <p:nvSpPr>
          <p:cNvPr id="20" name="fix-side">
            <a:extLst xmlns:a="http://schemas.openxmlformats.org/drawingml/2006/main">
              <a:ext uri="{FF2B5EF4-FFF2-40B4-BE49-F238E27FC236}">
                <a16:creationId xmlns:a16="http://schemas.microsoft.com/office/drawing/2014/main" id="{AE274CAB-84EC-465C-AE7D-BC41D27E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53000"/>
            <a:ext cx="49530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191F1B"/>
          </a:solidFill>
        </p:spPr>
      </p:sp>
      <p:sp>
        <p:nvSpPr>
          <p:cNvPr id="21" name="fix-outcome-label">
            <a:extLst xmlns:a="http://schemas.openxmlformats.org/drawingml/2006/main">
              <a:ext uri="{FF2B5EF4-FFF2-40B4-BE49-F238E27FC236}">
                <a16:creationId xmlns:a16="http://schemas.microsoft.com/office/drawing/2014/main" id="{E0BAD062-2C6D-459D-8F9C-DF0713D9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276850"/>
            <a:ext cx="426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6B2B"/>
                </a:solidFill>
              </a:defRPr>
            </a:pPr>
            <a:r>
              <a:rPr sz="1650" b="0">
                <a:solidFill>
                  <a:srgbClr val="FF6B2B"/>
                </a:solidFill>
              </a:rPr>
              <a:t>Do first</a:t>
            </a:r>
          </a:p>
        </p:txBody>
      </p:sp>
      <p:sp>
        <p:nvSpPr>
          <p:cNvPr id="22" name="fix-outcome">
            <a:extLst xmlns:a="http://schemas.openxmlformats.org/drawingml/2006/main">
              <a:ext uri="{FF2B5EF4-FFF2-40B4-BE49-F238E27FC236}">
                <a16:creationId xmlns:a16="http://schemas.microsoft.com/office/drawing/2014/main" id="{D12E3741-26D3-4BEF-9652-98218CD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695950"/>
            <a:ext cx="35433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750" b="1">
                <a:solidFill>
                  <a:srgbClr val="F5F2EA"/>
                </a:solidFill>
              </a:defRPr>
            </a:pPr>
            <a:r>
              <a:rPr sz="3750" b="1">
                <a:solidFill>
                  <a:srgbClr val="F5F2EA"/>
                </a:solidFill>
              </a:rPr>
              <a:t>/health must be boring.</a:t>
            </a:r>
          </a:p>
        </p:txBody>
      </p:sp>
      <p:sp>
        <p:nvSpPr>
          <p:cNvPr id="23" name="fix-note">
            <a:extLst xmlns:a="http://schemas.openxmlformats.org/drawingml/2006/main">
              <a:ext uri="{FF2B5EF4-FFF2-40B4-BE49-F238E27FC236}">
                <a16:creationId xmlns:a16="http://schemas.microsoft.com/office/drawing/2014/main" id="{071F8BCC-22E4-4EAA-96D9-E41C32E2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934200"/>
            <a:ext cx="3409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A49F97"/>
                </a:solidFill>
              </a:defRPr>
            </a:pPr>
            <a:r>
              <a:rPr sz="1800" b="0">
                <a:solidFill>
                  <a:srgbClr val="A49F97"/>
                </a:solidFill>
              </a:rPr>
              <a:t>Public result should be close to: { "status": "ok" }</a:t>
            </a:r>
          </a:p>
        </p:txBody>
      </p:sp>
      <p:sp>
        <p:nvSpPr>
          <p:cNvPr id="24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86DAD12A-2FA5-4AA0-AFE6-7ADA98D4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5" name="source-4">
            <a:extLst xmlns:a="http://schemas.openxmlformats.org/drawingml/2006/main">
              <a:ext uri="{FF2B5EF4-FFF2-40B4-BE49-F238E27FC236}">
                <a16:creationId xmlns:a16="http://schemas.microsoft.com/office/drawing/2014/main" id="{4500BA72-DBF7-4F5A-9B29-B69E9B3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Passive public-surface audit. Snapshot 2026-05-18.</a:t>
            </a:r>
          </a:p>
        </p:txBody>
      </p:sp>
      <p:sp>
        <p:nvSpPr>
          <p:cNvPr id="26" name="num-4">
            <a:extLst xmlns:a="http://schemas.openxmlformats.org/drawingml/2006/main">
              <a:ext uri="{FF2B5EF4-FFF2-40B4-BE49-F238E27FC236}">
                <a16:creationId xmlns:a16="http://schemas.microsoft.com/office/drawing/2014/main" id="{FB0DAFDB-E6D3-4B9B-B6AC-EB4CBB3F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4431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4D421D9-F34D-46FD-9676-06DAF9CF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8"/>
          </a:solidFill>
        </p:spPr>
      </p:sp>
      <p:sp>
        <p:nvSpPr>
          <p:cNvPr id="2" name="background-blank">
            <a:extLst xmlns:a="http://schemas.openxmlformats.org/drawingml/2006/main">
              <a:ext uri="{FF2B5EF4-FFF2-40B4-BE49-F238E27FC236}">
                <a16:creationId xmlns:a16="http://schemas.microsoft.com/office/drawing/2014/main" id="{1E04A824-4618-4CD1-AF86-70D9F80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grid-overlay">
            <a:extLst xmlns:a="http://schemas.openxmlformats.org/drawingml/2006/main">
              <a:ext uri="{FF2B5EF4-FFF2-40B4-BE49-F238E27FC236}">
                <a16:creationId xmlns:a16="http://schemas.microsoft.com/office/drawing/2014/main" id="{02C4744A-0176-4C44-AC32-BD18C65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grid-placeholder">
            <a:extLst xmlns:a="http://schemas.openxmlformats.org/drawingml/2006/main">
              <a:ext uri="{FF2B5EF4-FFF2-40B4-BE49-F238E27FC236}">
                <a16:creationId xmlns:a16="http://schemas.microsoft.com/office/drawing/2014/main" id="{D1AC5C9A-EFE3-4864-9B4F-A163B12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kicker-5">
            <a:extLst xmlns:a="http://schemas.openxmlformats.org/drawingml/2006/main">
              <a:ext uri="{FF2B5EF4-FFF2-40B4-BE49-F238E27FC236}">
                <a16:creationId xmlns:a16="http://schemas.microsoft.com/office/drawing/2014/main" id="{2D077801-1F77-4D22-A753-8F7F87B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2B"/>
                </a:solidFill>
              </a:defRPr>
            </a:pPr>
            <a:r>
              <a:rPr sz="1350" b="1">
                <a:solidFill>
                  <a:srgbClr val="FF6B2B"/>
                </a:solidFill>
              </a:rPr>
              <a:t>SLIDE 05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8A2553AA-6A05-4FD3-AFD4-96642854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63436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700" b="1">
                <a:solidFill>
                  <a:srgbClr val="F5F2EA"/>
                </a:solidFill>
              </a:defRPr>
            </a:pPr>
            <a:r>
              <a:rPr sz="5700" b="1">
                <a:solidFill>
                  <a:srgbClr val="F5F2EA"/>
                </a:solidFill>
              </a:rPr>
              <a:t>Validation needed.</a:t>
            </a:r>
          </a:p>
        </p:txBody>
      </p:sp>
      <p:sp>
        <p:nvSpPr>
          <p:cNvPr id="7" name="subtitle-5">
            <a:extLst xmlns:a="http://schemas.openxmlformats.org/drawingml/2006/main">
              <a:ext uri="{FF2B5EF4-FFF2-40B4-BE49-F238E27FC236}">
                <a16:creationId xmlns:a16="http://schemas.microsoft.com/office/drawing/2014/main" id="{EBCCA0DD-B508-473E-BE23-AAEE5B5D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8439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 b="0">
                <a:solidFill>
                  <a:srgbClr val="A49F97"/>
                </a:solidFill>
              </a:defRPr>
            </a:pPr>
            <a:r>
              <a:rPr sz="2100" b="0">
                <a:solidFill>
                  <a:srgbClr val="A49F97"/>
                </a:solidFill>
              </a:rPr>
              <a:t>These checks require approved staging access. Without it, they remain audit backlog, not confirmed bugs.</a:t>
            </a:r>
          </a:p>
        </p:txBody>
      </p:sp>
      <p:sp>
        <p:nvSpPr>
          <p:cNvPr id="8" name="badge-v-rbac">
            <a:extLst xmlns:a="http://schemas.openxmlformats.org/drawingml/2006/main">
              <a:ext uri="{FF2B5EF4-FFF2-40B4-BE49-F238E27FC236}">
                <a16:creationId xmlns:a16="http://schemas.microsoft.com/office/drawing/2014/main" id="{86CB5DC7-4FBA-4544-B3AF-5F42F07A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2B">
              <a:alpha val="13333"/>
            </a:srgbClr>
          </a:solidFill>
        </p:spPr>
      </p:sp>
      <p:sp>
        <p:nvSpPr>
          <p:cNvPr id="9" name="badge-text-v-rbac">
            <a:extLst xmlns:a="http://schemas.openxmlformats.org/drawingml/2006/main">
              <a:ext uri="{FF2B5EF4-FFF2-40B4-BE49-F238E27FC236}">
                <a16:creationId xmlns:a16="http://schemas.microsoft.com/office/drawing/2014/main" id="{956002D2-07A2-46D0-BB6B-4C63F2A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2B"/>
                </a:solidFill>
              </a:defRPr>
            </a:pPr>
            <a:r>
              <a:rPr sz="1275" b="1">
                <a:solidFill>
                  <a:srgbClr val="FF6B2B"/>
                </a:solidFill>
              </a:rPr>
              <a:t>TEST</a:t>
            </a:r>
          </a:p>
        </p:txBody>
      </p:sp>
      <p:sp>
        <p:nvSpPr>
          <p:cNvPr id="10" name="issue-title-v-rbac">
            <a:extLst xmlns:a="http://schemas.openxmlformats.org/drawingml/2006/main">
              <a:ext uri="{FF2B5EF4-FFF2-40B4-BE49-F238E27FC236}">
                <a16:creationId xmlns:a16="http://schemas.microsoft.com/office/drawing/2014/main" id="{091CCB3D-15CA-4C71-B417-4B4A09BB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05400"/>
            <a:ext cx="813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RBAC</a:t>
            </a:r>
          </a:p>
        </p:txBody>
      </p:sp>
      <p:sp>
        <p:nvSpPr>
          <p:cNvPr id="11" name="issue-body-v-rbac">
            <a:extLst xmlns:a="http://schemas.openxmlformats.org/drawingml/2006/main">
              <a:ext uri="{FF2B5EF4-FFF2-40B4-BE49-F238E27FC236}">
                <a16:creationId xmlns:a16="http://schemas.microsoft.com/office/drawing/2014/main" id="{6F7B2308-EF25-4DD7-ADFA-52CD32F0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245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Try user, creator, suspended and deleted-account states against privileged routes.</a:t>
            </a:r>
          </a:p>
        </p:txBody>
      </p:sp>
      <p:sp>
        <p:nvSpPr>
          <p:cNvPr id="12" name="badge-v-geo">
            <a:extLst xmlns:a="http://schemas.openxmlformats.org/drawingml/2006/main">
              <a:ext uri="{FF2B5EF4-FFF2-40B4-BE49-F238E27FC236}">
                <a16:creationId xmlns:a16="http://schemas.microsoft.com/office/drawing/2014/main" id="{EB19884D-E6C7-4E21-8B1C-F726E21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046699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D6A4">
              <a:alpha val="13333"/>
            </a:srgbClr>
          </a:solidFill>
        </p:spPr>
      </p:sp>
      <p:sp>
        <p:nvSpPr>
          <p:cNvPr id="13" name="badge-text-v-geo">
            <a:extLst xmlns:a="http://schemas.openxmlformats.org/drawingml/2006/main">
              <a:ext uri="{FF2B5EF4-FFF2-40B4-BE49-F238E27FC236}">
                <a16:creationId xmlns:a16="http://schemas.microsoft.com/office/drawing/2014/main" id="{072BE56A-A83D-4E4D-BA41-0CEF2D9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1531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9D6A4"/>
                </a:solidFill>
              </a:defRPr>
            </a:pPr>
            <a:r>
              <a:rPr sz="1275" b="1">
                <a:solidFill>
                  <a:srgbClr val="79D6A4"/>
                </a:solidFill>
              </a:rPr>
              <a:t>TEST</a:t>
            </a:r>
          </a:p>
        </p:txBody>
      </p:sp>
      <p:sp>
        <p:nvSpPr>
          <p:cNvPr id="14" name="issue-title-v-geo">
            <a:extLst xmlns:a="http://schemas.openxmlformats.org/drawingml/2006/main">
              <a:ext uri="{FF2B5EF4-FFF2-40B4-BE49-F238E27FC236}">
                <a16:creationId xmlns:a16="http://schemas.microsoft.com/office/drawing/2014/main" id="{C75EA8DA-2DE1-4295-ACDA-447C64F2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038850"/>
            <a:ext cx="813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Geo privacy</a:t>
            </a:r>
          </a:p>
        </p:txBody>
      </p:sp>
      <p:sp>
        <p:nvSpPr>
          <p:cNvPr id="15" name="issue-body-v-geo">
            <a:extLst xmlns:a="http://schemas.openxmlformats.org/drawingml/2006/main">
              <a:ext uri="{FF2B5EF4-FFF2-40B4-BE49-F238E27FC236}">
                <a16:creationId xmlns:a16="http://schemas.microsoft.com/office/drawing/2014/main" id="{79951D26-A9F1-4D82-9FCD-4BBF8BC6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47700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Measure how precise nearby, check-in and map data can become over time.</a:t>
            </a:r>
          </a:p>
        </p:txBody>
      </p:sp>
      <p:sp>
        <p:nvSpPr>
          <p:cNvPr id="16" name="badge-v-abuse">
            <a:extLst xmlns:a="http://schemas.openxmlformats.org/drawingml/2006/main">
              <a:ext uri="{FF2B5EF4-FFF2-40B4-BE49-F238E27FC236}">
                <a16:creationId xmlns:a16="http://schemas.microsoft.com/office/drawing/2014/main" id="{961F6177-F17D-416D-B87A-19EB085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97522"/>
            <a:ext cx="15049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7E8">
              <a:alpha val="13333"/>
            </a:srgbClr>
          </a:solidFill>
        </p:spPr>
      </p:sp>
      <p:sp>
        <p:nvSpPr>
          <p:cNvPr id="17" name="badge-text-v-abuse">
            <a:extLst xmlns:a="http://schemas.openxmlformats.org/drawingml/2006/main">
              <a:ext uri="{FF2B5EF4-FFF2-40B4-BE49-F238E27FC236}">
                <a16:creationId xmlns:a16="http://schemas.microsoft.com/office/drawing/2014/main" id="{D1C44D71-5CC1-4D96-8560-01FAA959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1056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D7E8"/>
                </a:solidFill>
              </a:defRPr>
            </a:pPr>
            <a:r>
              <a:rPr sz="1275" b="1">
                <a:solidFill>
                  <a:srgbClr val="70D7E8"/>
                </a:solidFill>
              </a:rPr>
              <a:t>TEST</a:t>
            </a:r>
          </a:p>
        </p:txBody>
      </p:sp>
      <p:sp>
        <p:nvSpPr>
          <p:cNvPr id="18" name="issue-title-v-abuse">
            <a:extLst xmlns:a="http://schemas.openxmlformats.org/drawingml/2006/main">
              <a:ext uri="{FF2B5EF4-FFF2-40B4-BE49-F238E27FC236}">
                <a16:creationId xmlns:a16="http://schemas.microsoft.com/office/drawing/2014/main" id="{CEEDD700-66D6-433A-9D1C-50C84A2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991350"/>
            <a:ext cx="813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2EA"/>
                </a:solidFill>
              </a:defRPr>
            </a:pPr>
            <a:r>
              <a:rPr sz="2325" b="1">
                <a:solidFill>
                  <a:srgbClr val="F5F2EA"/>
                </a:solidFill>
              </a:rPr>
              <a:t>Rate limits</a:t>
            </a:r>
          </a:p>
        </p:txBody>
      </p:sp>
      <p:sp>
        <p:nvSpPr>
          <p:cNvPr id="19" name="issue-body-v-abuse">
            <a:extLst xmlns:a="http://schemas.openxmlformats.org/drawingml/2006/main">
              <a:ext uri="{FF2B5EF4-FFF2-40B4-BE49-F238E27FC236}">
                <a16:creationId xmlns:a16="http://schemas.microsoft.com/office/drawing/2014/main" id="{C62756B8-4409-44B7-AC60-A4251779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429500"/>
            <a:ext cx="685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A49F97"/>
                </a:solidFill>
              </a:defRPr>
            </a:pPr>
            <a:r>
              <a:rPr sz="1650" b="0">
                <a:solidFill>
                  <a:srgbClr val="A49F97"/>
                </a:solidFill>
              </a:rPr>
              <a:t>Measure login, signup, search, map query, chat and websocket throttling.</a:t>
            </a:r>
          </a:p>
        </p:txBody>
      </p:sp>
      <p:sp>
        <p:nvSpPr>
          <p:cNvPr id="20" name="validation-needed">
            <a:extLst xmlns:a="http://schemas.openxmlformats.org/drawingml/2006/main">
              <a:ext uri="{FF2B5EF4-FFF2-40B4-BE49-F238E27FC236}">
                <a16:creationId xmlns:a16="http://schemas.microsoft.com/office/drawing/2014/main" id="{27C2C4E8-B411-4C52-AEC7-8FA5A3DC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095875"/>
            <a:ext cx="4095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91F1B"/>
          </a:solidFill>
        </p:spPr>
      </p:sp>
      <p:sp>
        <p:nvSpPr>
          <p:cNvPr id="21" name="validation-needed-label">
            <a:extLst xmlns:a="http://schemas.openxmlformats.org/drawingml/2006/main">
              <a:ext uri="{FF2B5EF4-FFF2-40B4-BE49-F238E27FC236}">
                <a16:creationId xmlns:a16="http://schemas.microsoft.com/office/drawing/2014/main" id="{F635D36A-14C3-4D00-9CEB-BB67104F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5816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6B2B"/>
                </a:solidFill>
              </a:defRPr>
            </a:pPr>
            <a:r>
              <a:rPr sz="1650" b="0">
                <a:solidFill>
                  <a:srgbClr val="FF6B2B"/>
                </a:solidFill>
              </a:rPr>
              <a:t>Input needed</a:t>
            </a:r>
          </a:p>
        </p:txBody>
      </p:sp>
      <p:sp>
        <p:nvSpPr>
          <p:cNvPr id="22" name="validation-needed-1">
            <a:extLst xmlns:a="http://schemas.openxmlformats.org/drawingml/2006/main">
              <a:ext uri="{FF2B5EF4-FFF2-40B4-BE49-F238E27FC236}">
                <a16:creationId xmlns:a16="http://schemas.microsoft.com/office/drawing/2014/main" id="{A8E632E1-3C08-4FF6-9617-8D88B81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94360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2EA"/>
                </a:solidFill>
              </a:defRPr>
            </a:pPr>
            <a:r>
              <a:rPr sz="2400" b="1">
                <a:solidFill>
                  <a:srgbClr val="F5F2EA"/>
                </a:solidFill>
              </a:rPr>
              <a:t>staging URL</a:t>
            </a:r>
          </a:p>
        </p:txBody>
      </p:sp>
      <p:sp>
        <p:nvSpPr>
          <p:cNvPr id="23" name="validation-needed-2">
            <a:extLst xmlns:a="http://schemas.openxmlformats.org/drawingml/2006/main">
              <a:ext uri="{FF2B5EF4-FFF2-40B4-BE49-F238E27FC236}">
                <a16:creationId xmlns:a16="http://schemas.microsoft.com/office/drawing/2014/main" id="{44C42F05-F145-4345-945B-F70C803E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41985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2EA"/>
                </a:solidFill>
              </a:defRPr>
            </a:pPr>
            <a:r>
              <a:rPr sz="2400" b="1">
                <a:solidFill>
                  <a:srgbClr val="F5F2EA"/>
                </a:solidFill>
              </a:rPr>
              <a:t>test accounts</a:t>
            </a:r>
          </a:p>
        </p:txBody>
      </p:sp>
      <p:sp>
        <p:nvSpPr>
          <p:cNvPr id="24" name="validation-needed-3">
            <a:extLst xmlns:a="http://schemas.openxmlformats.org/drawingml/2006/main">
              <a:ext uri="{FF2B5EF4-FFF2-40B4-BE49-F238E27FC236}">
                <a16:creationId xmlns:a16="http://schemas.microsoft.com/office/drawing/2014/main" id="{EDD7E2CF-24D2-4533-8879-ACD9797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91515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2EA"/>
                </a:solidFill>
              </a:defRPr>
            </a:pPr>
            <a:r>
              <a:rPr sz="2400" b="1">
                <a:solidFill>
                  <a:srgbClr val="F5F2EA"/>
                </a:solidFill>
              </a:rPr>
              <a:t>allowed scope</a:t>
            </a:r>
          </a:p>
        </p:txBody>
      </p:sp>
      <p:sp>
        <p:nvSpPr>
          <p:cNvPr id="25" name="validation-needed-4">
            <a:extLst xmlns:a="http://schemas.openxmlformats.org/drawingml/2006/main">
              <a:ext uri="{FF2B5EF4-FFF2-40B4-BE49-F238E27FC236}">
                <a16:creationId xmlns:a16="http://schemas.microsoft.com/office/drawing/2014/main" id="{46AC9980-A2E9-41CE-804F-809E4737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39140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2EA"/>
                </a:solidFill>
              </a:defRPr>
            </a:pPr>
            <a:r>
              <a:rPr sz="2400" b="1">
                <a:solidFill>
                  <a:srgbClr val="F5F2EA"/>
                </a:solidFill>
              </a:rPr>
              <a:t>logging owner</a:t>
            </a:r>
          </a:p>
        </p:txBody>
      </p:sp>
      <p:sp>
        <p:nvSpPr>
          <p:cNvPr id="26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3B208FAF-D515-472C-8473-E279D25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7" name="source-5">
            <a:extLst xmlns:a="http://schemas.openxmlformats.org/drawingml/2006/main">
              <a:ext uri="{FF2B5EF4-FFF2-40B4-BE49-F238E27FC236}">
                <a16:creationId xmlns:a16="http://schemas.microsoft.com/office/drawing/2014/main" id="{F80116BC-3A30-4E83-8A00-CC51782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Passive public-surface audit. Snapshot 2026-05-18.</a:t>
            </a:r>
          </a:p>
        </p:txBody>
      </p:sp>
      <p:sp>
        <p:nvSpPr>
          <p:cNvPr id="28" name="num-5">
            <a:extLst xmlns:a="http://schemas.openxmlformats.org/drawingml/2006/main">
              <a:ext uri="{FF2B5EF4-FFF2-40B4-BE49-F238E27FC236}">
                <a16:creationId xmlns:a16="http://schemas.microsoft.com/office/drawing/2014/main" id="{6AE816A4-D0D0-4966-A1AD-E9341A78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57915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114329D-91E7-46DD-B38B-32BA1A79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8"/>
          </a:solidFill>
        </p:spPr>
      </p:sp>
      <p:sp>
        <p:nvSpPr>
          <p:cNvPr id="2" name="background-blank">
            <a:extLst xmlns:a="http://schemas.openxmlformats.org/drawingml/2006/main">
              <a:ext uri="{FF2B5EF4-FFF2-40B4-BE49-F238E27FC236}">
                <a16:creationId xmlns:a16="http://schemas.microsoft.com/office/drawing/2014/main" id="{744B7AE9-5DF6-4C87-8A91-79DEAA07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grid-overlay">
            <a:extLst xmlns:a="http://schemas.openxmlformats.org/drawingml/2006/main">
              <a:ext uri="{FF2B5EF4-FFF2-40B4-BE49-F238E27FC236}">
                <a16:creationId xmlns:a16="http://schemas.microsoft.com/office/drawing/2014/main" id="{4C9291D5-4509-45E2-B8F5-972D93B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grid-placeholder">
            <a:extLst xmlns:a="http://schemas.openxmlformats.org/drawingml/2006/main">
              <a:ext uri="{FF2B5EF4-FFF2-40B4-BE49-F238E27FC236}">
                <a16:creationId xmlns:a16="http://schemas.microsoft.com/office/drawing/2014/main" id="{4C17E9C9-6F5F-434F-996A-8D77897C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kicker-6">
            <a:extLst xmlns:a="http://schemas.openxmlformats.org/drawingml/2006/main">
              <a:ext uri="{FF2B5EF4-FFF2-40B4-BE49-F238E27FC236}">
                <a16:creationId xmlns:a16="http://schemas.microsoft.com/office/drawing/2014/main" id="{9FB0E726-41B4-42F8-9FC5-B8A7F257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2B"/>
                </a:solidFill>
              </a:defRPr>
            </a:pPr>
            <a:r>
              <a:rPr sz="1350" b="1">
                <a:solidFill>
                  <a:srgbClr val="FF6B2B"/>
                </a:solidFill>
              </a:rPr>
              <a:t>SLIDE 06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839BB7D7-1871-42BF-B2E9-0D219B64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4667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700" b="1">
                <a:solidFill>
                  <a:srgbClr val="F5F2EA"/>
                </a:solidFill>
              </a:defRPr>
            </a:pPr>
            <a:r>
              <a:rPr sz="5700" b="1">
                <a:solidFill>
                  <a:srgbClr val="F5F2EA"/>
                </a:solidFill>
              </a:rPr>
              <a:t>Done criteria.</a:t>
            </a:r>
          </a:p>
        </p:txBody>
      </p:sp>
      <p:sp>
        <p:nvSpPr>
          <p:cNvPr id="7" name="subtitle-6">
            <a:extLst xmlns:a="http://schemas.openxmlformats.org/drawingml/2006/main">
              <a:ext uri="{FF2B5EF4-FFF2-40B4-BE49-F238E27FC236}">
                <a16:creationId xmlns:a16="http://schemas.microsoft.com/office/drawing/2014/main" id="{DD204ADE-B4E6-4220-B81F-4F15A238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5353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2100" b="0">
                <a:solidFill>
                  <a:srgbClr val="A49F97"/>
                </a:solidFill>
              </a:defRPr>
            </a:pPr>
            <a:r>
              <a:rPr sz="2100" b="0">
                <a:solidFill>
                  <a:srgbClr val="A49F97"/>
                </a:solidFill>
              </a:rPr>
              <a:t>Use this as the 30-day acceptance checklist.</a:t>
            </a:r>
          </a:p>
        </p:txBody>
      </p:sp>
      <p:sp>
        <p:nvSpPr>
          <p:cNvPr id="8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0C6F5733-0426-497F-B751-021D103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2B"/>
                </a:solidFill>
              </a:defRPr>
            </a:pPr>
            <a:r>
              <a:rPr sz="1650" b="1">
                <a:solidFill>
                  <a:srgbClr val="FF6B2B"/>
                </a:solidFill>
              </a:rPr>
              <a:t>OK</a:t>
            </a:r>
          </a:p>
        </p:txBody>
      </p:sp>
      <p:sp>
        <p:nvSpPr>
          <p:cNvPr id="9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997B9232-03AC-4D46-A7BE-A9B2CB7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6725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2EA"/>
                </a:solidFill>
              </a:defRPr>
            </a:pPr>
            <a:r>
              <a:rPr sz="1875" b="1">
                <a:solidFill>
                  <a:srgbClr val="F5F2EA"/>
                </a:solidFill>
              </a:rPr>
              <a:t>Public /health is minimal</a:t>
            </a:r>
          </a:p>
        </p:txBody>
      </p:sp>
      <p:sp>
        <p:nvSpPr>
          <p:cNvPr id="10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66686372-19BF-4279-8B19-2DBE0881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91100"/>
            <a:ext cx="4114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A49F97"/>
                </a:solidFill>
              </a:defRPr>
            </a:pPr>
            <a:r>
              <a:rPr sz="1425" b="0">
                <a:solidFill>
                  <a:srgbClr val="A49F97"/>
                </a:solidFill>
              </a:rPr>
              <a:t>No service names, local ports or dependency map.</a:t>
            </a:r>
          </a:p>
        </p:txBody>
      </p:sp>
      <p:sp>
        <p:nvSpPr>
          <p:cNvPr id="11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01825B47-04F4-4925-A864-BAE87B23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6A4"/>
                </a:solidFill>
              </a:defRPr>
            </a:pPr>
            <a:r>
              <a:rPr sz="1650" b="1">
                <a:solidFill>
                  <a:srgbClr val="79D6A4"/>
                </a:solidFill>
              </a:rPr>
              <a:t>OK</a:t>
            </a:r>
          </a:p>
        </p:txBody>
      </p:sp>
      <p:sp>
        <p:nvSpPr>
          <p:cNvPr id="12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054C1B57-DD0E-48DE-AA94-204100E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6725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2EA"/>
                </a:solidFill>
              </a:defRPr>
            </a:pPr>
            <a:r>
              <a:rPr sz="1875" b="1">
                <a:solidFill>
                  <a:srgbClr val="F5F2EA"/>
                </a:solidFill>
              </a:rPr>
              <a:t>Detailed health is private</a:t>
            </a:r>
          </a:p>
        </p:txBody>
      </p:sp>
      <p:sp>
        <p:nvSpPr>
          <p:cNvPr id="13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48590F79-159E-4A19-A63F-D1FB4261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91100"/>
            <a:ext cx="3448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A49F97"/>
                </a:solidFill>
              </a:defRPr>
            </a:pPr>
            <a:r>
              <a:rPr sz="1425" b="0">
                <a:solidFill>
                  <a:srgbClr val="A49F97"/>
                </a:solidFill>
              </a:rPr>
              <a:t>Monitoring can see it. Public users cannot.</a:t>
            </a:r>
          </a:p>
        </p:txBody>
      </p:sp>
      <p:sp>
        <p:nvSpPr>
          <p:cNvPr id="14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63315472-2508-45C3-8972-AE19C088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D7E8"/>
                </a:solidFill>
              </a:defRPr>
            </a:pPr>
            <a:r>
              <a:rPr sz="1650" b="1">
                <a:solidFill>
                  <a:srgbClr val="70D7E8"/>
                </a:solidFill>
              </a:rPr>
              <a:t>OK</a:t>
            </a:r>
          </a:p>
        </p:txBody>
      </p:sp>
      <p:sp>
        <p:nvSpPr>
          <p:cNvPr id="15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1B28730F-6949-47F0-AEAB-048F756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4835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2EA"/>
                </a:solidFill>
              </a:defRPr>
            </a:pPr>
            <a:r>
              <a:rPr sz="1875" b="1">
                <a:solidFill>
                  <a:srgbClr val="F5F2EA"/>
                </a:solidFill>
              </a:rPr>
              <a:t>RBAC has negative tests</a:t>
            </a:r>
          </a:p>
        </p:txBody>
      </p:sp>
      <p:sp>
        <p:nvSpPr>
          <p:cNvPr id="16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00290A24-F41A-4E09-BDBB-B402BCE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1722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A49F97"/>
                </a:solidFill>
              </a:defRPr>
            </a:pPr>
            <a:r>
              <a:rPr sz="1425" b="0">
                <a:solidFill>
                  <a:srgbClr val="A49F97"/>
                </a:solidFill>
              </a:rPr>
              <a:t>Normal users are denied admin, wallet and creator actions.</a:t>
            </a:r>
          </a:p>
        </p:txBody>
      </p:sp>
      <p:sp>
        <p:nvSpPr>
          <p:cNvPr id="17" name="check-mark-4">
            <a:extLst xmlns:a="http://schemas.openxmlformats.org/drawingml/2006/main">
              <a:ext uri="{FF2B5EF4-FFF2-40B4-BE49-F238E27FC236}">
                <a16:creationId xmlns:a16="http://schemas.microsoft.com/office/drawing/2014/main" id="{FA1A0182-3FCB-45D1-9D9E-E3EF2A8D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483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BD58"/>
                </a:solidFill>
              </a:defRPr>
            </a:pPr>
            <a:r>
              <a:rPr sz="1650" b="1">
                <a:solidFill>
                  <a:srgbClr val="F1BD58"/>
                </a:solidFill>
              </a:rPr>
              <a:t>OK</a:t>
            </a:r>
          </a:p>
        </p:txBody>
      </p:sp>
      <p:sp>
        <p:nvSpPr>
          <p:cNvPr id="18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82884419-D90F-4660-96D4-0F5073E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4835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2EA"/>
                </a:solidFill>
              </a:defRPr>
            </a:pPr>
            <a:r>
              <a:rPr sz="1875" b="1">
                <a:solidFill>
                  <a:srgbClr val="F5F2EA"/>
                </a:solidFill>
              </a:rPr>
              <a:t>Geo data is privacy-safe</a:t>
            </a:r>
          </a:p>
        </p:txBody>
      </p:sp>
      <p:sp>
        <p:nvSpPr>
          <p:cNvPr id="19" name="check-body-4">
            <a:extLst xmlns:a="http://schemas.openxmlformats.org/drawingml/2006/main">
              <a:ext uri="{FF2B5EF4-FFF2-40B4-BE49-F238E27FC236}">
                <a16:creationId xmlns:a16="http://schemas.microsoft.com/office/drawing/2014/main" id="{D87F1FF8-0D90-452C-8199-82464F0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172200"/>
            <a:ext cx="4419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A49F97"/>
                </a:solidFill>
              </a:defRPr>
            </a:pPr>
            <a:r>
              <a:rPr sz="1425" b="0">
                <a:solidFill>
                  <a:srgbClr val="A49F97"/>
                </a:solidFill>
              </a:rPr>
              <a:t>Precision, TTL and scraping behavior are documented.</a:t>
            </a:r>
          </a:p>
        </p:txBody>
      </p:sp>
      <p:sp>
        <p:nvSpPr>
          <p:cNvPr id="20" name="check-mark-5">
            <a:extLst xmlns:a="http://schemas.openxmlformats.org/drawingml/2006/main">
              <a:ext uri="{FF2B5EF4-FFF2-40B4-BE49-F238E27FC236}">
                <a16:creationId xmlns:a16="http://schemas.microsoft.com/office/drawing/2014/main" id="{12E20621-4BCD-4345-A886-8E3986B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0294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A8FF"/>
                </a:solidFill>
              </a:defRPr>
            </a:pPr>
            <a:r>
              <a:rPr sz="1650" b="1">
                <a:solidFill>
                  <a:srgbClr val="7AA8FF"/>
                </a:solidFill>
              </a:rPr>
              <a:t>OK</a:t>
            </a:r>
          </a:p>
        </p:txBody>
      </p:sp>
      <p:sp>
        <p:nvSpPr>
          <p:cNvPr id="21" name="check-label-5">
            <a:extLst xmlns:a="http://schemas.openxmlformats.org/drawingml/2006/main">
              <a:ext uri="{FF2B5EF4-FFF2-40B4-BE49-F238E27FC236}">
                <a16:creationId xmlns:a16="http://schemas.microsoft.com/office/drawing/2014/main" id="{EE7FF798-70F9-4754-97C6-AB9E3947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02945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2EA"/>
                </a:solidFill>
              </a:defRPr>
            </a:pPr>
            <a:r>
              <a:rPr sz="1875" b="1">
                <a:solidFill>
                  <a:srgbClr val="F5F2EA"/>
                </a:solidFill>
              </a:rPr>
              <a:t>Abuse limits are enforced</a:t>
            </a:r>
          </a:p>
        </p:txBody>
      </p:sp>
      <p:sp>
        <p:nvSpPr>
          <p:cNvPr id="22" name="check-body-5">
            <a:extLst xmlns:a="http://schemas.openxmlformats.org/drawingml/2006/main">
              <a:ext uri="{FF2B5EF4-FFF2-40B4-BE49-F238E27FC236}">
                <a16:creationId xmlns:a16="http://schemas.microsoft.com/office/drawing/2014/main" id="{5845480D-6D5E-4C42-805D-9DB5D844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353300"/>
            <a:ext cx="464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A49F97"/>
                </a:solidFill>
              </a:defRPr>
            </a:pPr>
            <a:r>
              <a:rPr sz="1425" b="0">
                <a:solidFill>
                  <a:srgbClr val="A49F97"/>
                </a:solidFill>
              </a:rPr>
              <a:t>Login, signup, search, map and chat flows throttle abuse.</a:t>
            </a:r>
          </a:p>
        </p:txBody>
      </p:sp>
      <p:sp>
        <p:nvSpPr>
          <p:cNvPr id="23" name="check-mark-6">
            <a:extLst xmlns:a="http://schemas.openxmlformats.org/drawingml/2006/main">
              <a:ext uri="{FF2B5EF4-FFF2-40B4-BE49-F238E27FC236}">
                <a16:creationId xmlns:a16="http://schemas.microsoft.com/office/drawing/2014/main" id="{0BC28176-E409-4EB6-B96A-900A633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0294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2B"/>
                </a:solidFill>
              </a:defRPr>
            </a:pPr>
            <a:r>
              <a:rPr sz="1650" b="1">
                <a:solidFill>
                  <a:srgbClr val="FF6B2B"/>
                </a:solidFill>
              </a:rPr>
              <a:t>OK</a:t>
            </a:r>
          </a:p>
        </p:txBody>
      </p:sp>
      <p:sp>
        <p:nvSpPr>
          <p:cNvPr id="24" name="check-label-6">
            <a:extLst xmlns:a="http://schemas.openxmlformats.org/drawingml/2006/main">
              <a:ext uri="{FF2B5EF4-FFF2-40B4-BE49-F238E27FC236}">
                <a16:creationId xmlns:a16="http://schemas.microsoft.com/office/drawing/2014/main" id="{55CA6B3C-F159-400B-9FD2-1381DCDB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02945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2EA"/>
                </a:solidFill>
              </a:defRPr>
            </a:pPr>
            <a:r>
              <a:rPr sz="1875" b="1">
                <a:solidFill>
                  <a:srgbClr val="F5F2EA"/>
                </a:solidFill>
              </a:rPr>
              <a:t>Audit logs are useful</a:t>
            </a:r>
          </a:p>
        </p:txBody>
      </p:sp>
      <p:sp>
        <p:nvSpPr>
          <p:cNvPr id="25" name="check-body-6">
            <a:extLst xmlns:a="http://schemas.openxmlformats.org/drawingml/2006/main">
              <a:ext uri="{FF2B5EF4-FFF2-40B4-BE49-F238E27FC236}">
                <a16:creationId xmlns:a16="http://schemas.microsoft.com/office/drawing/2014/main" id="{B50C97CC-453F-4B1F-A669-9A5DAD3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53300"/>
            <a:ext cx="419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A49F97"/>
                </a:solidFill>
              </a:defRPr>
            </a:pPr>
            <a:r>
              <a:rPr sz="1425" b="0">
                <a:solidFill>
                  <a:srgbClr val="A49F97"/>
                </a:solidFill>
              </a:rPr>
              <a:t>Denied actions and rate-limit events are searchable.</a:t>
            </a:r>
          </a:p>
        </p:txBody>
      </p:sp>
      <p:sp>
        <p:nvSpPr>
          <p:cNvPr id="26" name="success">
            <a:extLst xmlns:a="http://schemas.openxmlformats.org/drawingml/2006/main">
              <a:ext uri="{FF2B5EF4-FFF2-40B4-BE49-F238E27FC236}">
                <a16:creationId xmlns:a16="http://schemas.microsoft.com/office/drawing/2014/main" id="{C1C3C9D4-5D92-4A24-96BD-432BCD1B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67700"/>
            <a:ext cx="107251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2B"/>
                </a:solidFill>
              </a:defRPr>
            </a:pPr>
            <a:r>
              <a:rPr sz="2550" b="1">
                <a:solidFill>
                  <a:srgbClr val="FF6B2B"/>
                </a:solidFill>
              </a:rPr>
              <a:t>Next audit should show fewer details, fewer guesses and more tested controls.</a:t>
            </a:r>
          </a:p>
        </p:txBody>
      </p:sp>
      <p:sp>
        <p:nvSpPr>
          <p:cNvPr id="27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DD3F7502-082F-4AB3-A71B-6EC468A0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8" name="source-6">
            <a:extLst xmlns:a="http://schemas.openxmlformats.org/drawingml/2006/main">
              <a:ext uri="{FF2B5EF4-FFF2-40B4-BE49-F238E27FC236}">
                <a16:creationId xmlns:a16="http://schemas.microsoft.com/office/drawing/2014/main" id="{B2DB72C4-F62F-44C9-A4AE-3CCA0043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964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Passive public-surface audit. Snapshot 2026-05-18.</a:t>
            </a:r>
          </a:p>
        </p:txBody>
      </p:sp>
      <p:sp>
        <p:nvSpPr>
          <p:cNvPr id="29" name="num-6">
            <a:extLst xmlns:a="http://schemas.openxmlformats.org/drawingml/2006/main">
              <a:ext uri="{FF2B5EF4-FFF2-40B4-BE49-F238E27FC236}">
                <a16:creationId xmlns:a16="http://schemas.microsoft.com/office/drawing/2014/main" id="{ABD6DD75-05A3-46F3-A8C5-871EE615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962"/>
                </a:solidFill>
              </a:defRPr>
            </a:pPr>
            <a:r>
              <a:rPr sz="1350" b="0">
                <a:solidFill>
                  <a:srgbClr val="6D696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9601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2026-05-18T15:12:01.7800000Z</dcterms:created>
  <dcterms:modified xsi:type="dcterms:W3CDTF">2026-05-18T15:12:01.7800000Z</dcterms:modified>
</coreProperties>
</file>